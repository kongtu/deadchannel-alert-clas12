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63" r:id="rId4"/>
    <p:sldId id="259" r:id="rId5"/>
    <p:sldId id="258" r:id="rId6"/>
    <p:sldId id="260" r:id="rId7"/>
    <p:sldId id="261" r:id="rId8"/>
    <p:sldId id="262"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1" d="100"/>
          <a:sy n="101" d="100"/>
        </p:scale>
        <p:origin x="37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81356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a per-run list of bad AHDC channels, reproducible, ready for a database.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rel_to_layer and cv are both ratios formed from within-run quantities, so a run-wide factor cancels; own_norm and local_median do span many runs. Thresholds are the defaults, moved together by --dead-frac and --hot-frac.</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case that justifies keeping reference B.</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robust_z = (cv - local_median)/scale with threshold 5; since scale is the 0.05 floor for every wire this is exactly |cv - local_median| &gt; 0.25. The band in the figure is that cut. Both wires move in run 23055: L1 W26 by -0.427 and is flagged, L5 W41 by +0.219 and is not. The spread is a median of absolute deviations rather than a sigma, so one extreme run cannot inflate the yardstick meant to measure 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invariance is algebraic, not statistical: rel_to_layer is a ratio within one run, so a common factor cancels, and everything downstream is built from it. Verified by rescaling whole runs and checking all 616,724 verdicts. Across reliable runs the flag count does correlate with brightness (Spearman +0.4), but that is the campaign changing over time, not scale sensitivity.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Segmentation answers whether a run-range database model is workable. It is.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what is still open rather than on the file list.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33"/>
        </a:solidFill>
        <a:effectLst/>
      </p:bgPr>
    </p:bg>
    <p:spTree>
      <p:nvGrpSpPr>
        <p:cNvPr id="1" name=""/>
        <p:cNvGrpSpPr/>
        <p:nvPr/>
      </p:nvGrpSpPr>
      <p:grpSpPr>
        <a:xfrm>
          <a:off x="0" y="0"/>
          <a:ext cx="0" cy="0"/>
          <a:chOff x="0" y="0"/>
          <a:chExt cx="0" cy="0"/>
        </a:xfrm>
      </p:grpSpPr>
      <p:sp>
        <p:nvSpPr>
          <p:cNvPr id="2" name="Text 0"/>
          <p:cNvSpPr/>
          <p:nvPr/>
        </p:nvSpPr>
        <p:spPr>
          <a:xfrm>
            <a:off x="640080" y="2148840"/>
            <a:ext cx="10607040" cy="868680"/>
          </a:xfrm>
          <a:prstGeom prst="rect">
            <a:avLst/>
          </a:prstGeom>
          <a:noFill/>
          <a:ln/>
        </p:spPr>
        <p:txBody>
          <a:bodyPr wrap="square"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Finding dead and bad AHDC wires</a:t>
            </a:r>
            <a:endParaRPr lang="en-US" sz="4000" dirty="0"/>
          </a:p>
        </p:txBody>
      </p:sp>
      <p:sp>
        <p:nvSpPr>
          <p:cNvPr id="3" name="Shape 1"/>
          <p:cNvSpPr/>
          <p:nvPr/>
        </p:nvSpPr>
        <p:spPr>
          <a:xfrm>
            <a:off x="640080" y="3200400"/>
            <a:ext cx="1005840" cy="32004"/>
          </a:xfrm>
          <a:prstGeom prst="rect">
            <a:avLst/>
          </a:prstGeom>
          <a:solidFill>
            <a:srgbClr val="0E7C86"/>
          </a:solidFill>
          <a:ln/>
        </p:spPr>
        <p:txBody>
          <a:bodyPr/>
          <a:lstStyle/>
          <a:p>
            <a:endParaRPr lang="en-US"/>
          </a:p>
        </p:txBody>
      </p:sp>
      <p:sp>
        <p:nvSpPr>
          <p:cNvPr id="4" name="Text 2"/>
          <p:cNvSpPr/>
          <p:nvPr/>
        </p:nvSpPr>
        <p:spPr>
          <a:xfrm>
            <a:off x="640080" y="3520440"/>
            <a:ext cx="10607040" cy="365760"/>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Kong Tu</a:t>
            </a:r>
            <a:endParaRPr lang="en-US" sz="1900" dirty="0"/>
          </a:p>
        </p:txBody>
      </p:sp>
      <p:sp>
        <p:nvSpPr>
          <p:cNvPr id="5" name="Text 3"/>
          <p:cNvSpPr/>
          <p:nvPr/>
        </p:nvSpPr>
        <p:spPr>
          <a:xfrm>
            <a:off x="640080" y="3913632"/>
            <a:ext cx="10607040" cy="320040"/>
          </a:xfrm>
          <a:prstGeom prst="rect">
            <a:avLst/>
          </a:prstGeom>
          <a:noFill/>
          <a:ln/>
        </p:spPr>
        <p:txBody>
          <a:bodyPr wrap="square" rtlCol="0" anchor="ctr"/>
          <a:lstStyle/>
          <a:p>
            <a:pPr marL="0" indent="0">
              <a:buNone/>
            </a:pPr>
            <a:r>
              <a:rPr lang="en-US" sz="1500" dirty="0">
                <a:solidFill>
                  <a:srgbClr val="B9C6CC"/>
                </a:solidFill>
                <a:latin typeface="Calibri" pitchFamily="34" charset="0"/>
                <a:ea typeface="Calibri" pitchFamily="34" charset="-122"/>
                <a:cs typeface="Calibri" pitchFamily="34" charset="-120"/>
              </a:rPr>
              <a:t>Brookhaven National Laboratory</a:t>
            </a:r>
            <a:endParaRPr lang="en-US" sz="1500" dirty="0"/>
          </a:p>
        </p:txBody>
      </p:sp>
      <p:sp>
        <p:nvSpPr>
          <p:cNvPr id="6" name="Text 4"/>
          <p:cNvSpPr/>
          <p:nvPr/>
        </p:nvSpPr>
        <p:spPr>
          <a:xfrm>
            <a:off x="640080" y="4526280"/>
            <a:ext cx="10607040" cy="320040"/>
          </a:xfrm>
          <a:prstGeom prst="rect">
            <a:avLst/>
          </a:prstGeom>
          <a:noFill/>
          <a:ln/>
        </p:spPr>
        <p:txBody>
          <a:bodyPr wrap="square" rtlCol="0" anchor="ctr"/>
          <a:lstStyle/>
          <a:p>
            <a:pPr marL="0" indent="0">
              <a:buNone/>
            </a:pPr>
            <a:r>
              <a:rPr lang="en-US" sz="1400" dirty="0">
                <a:solidFill>
                  <a:srgbClr val="B9C6CC"/>
                </a:solidFill>
                <a:latin typeface="Calibri" pitchFamily="34" charset="0"/>
                <a:ea typeface="Calibri" pitchFamily="34" charset="-122"/>
                <a:cs typeface="Calibri" pitchFamily="34" charset="-120"/>
              </a:rPr>
              <a:t>ALERT service task  </a:t>
            </a:r>
            <a:r>
              <a:rPr lang="en-US" sz="1400" dirty="0">
                <a:solidFill>
                  <a:srgbClr val="7E9099"/>
                </a:solidFill>
                <a:latin typeface="Calibri" pitchFamily="34" charset="0"/>
                <a:ea typeface="Calibri" pitchFamily="34" charset="-122"/>
                <a:cs typeface="Calibri" pitchFamily="34" charset="-120"/>
              </a:rPr>
              <a:t>·  576 AHDC wires  ·  1112 runs (21317–23061)</a:t>
            </a:r>
            <a:endParaRPr lang="en-US" sz="1400" dirty="0"/>
          </a:p>
        </p:txBody>
      </p:sp>
      <p:sp>
        <p:nvSpPr>
          <p:cNvPr id="7" name="Text 5"/>
          <p:cNvSpPr/>
          <p:nvPr/>
        </p:nvSpPr>
        <p:spPr>
          <a:xfrm>
            <a:off x="640080" y="5943600"/>
            <a:ext cx="7315200" cy="320040"/>
          </a:xfrm>
          <a:prstGeom prst="rect">
            <a:avLst/>
          </a:prstGeom>
          <a:noFill/>
          <a:ln/>
        </p:spPr>
        <p:txBody>
          <a:bodyPr wrap="square" rtlCol="0" anchor="ctr"/>
          <a:lstStyle/>
          <a:p>
            <a:pPr marL="0" indent="0">
              <a:buNone/>
            </a:pPr>
            <a:r>
              <a:rPr lang="en-US" sz="1200" dirty="0">
                <a:solidFill>
                  <a:srgbClr val="0E7C86"/>
                </a:solidFill>
                <a:latin typeface="Courier New" pitchFamily="34" charset="0"/>
                <a:ea typeface="Courier New" pitchFamily="34" charset="-122"/>
                <a:cs typeface="Courier New" pitchFamily="34" charset="-120"/>
              </a:rPr>
              <a:t>github.com/KongTu/deadChannel-ALERT-CLAS12</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384048"/>
            <a:ext cx="10058400" cy="256032"/>
          </a:xfrm>
          <a:prstGeom prst="rect">
            <a:avLst/>
          </a:prstGeom>
          <a:noFill/>
          <a:ln/>
        </p:spPr>
        <p:txBody>
          <a:bodyPr wrap="square" rtlCol="0" anchor="ctr"/>
          <a:lstStyle/>
          <a:p>
            <a:pPr marL="0" indent="0">
              <a:buNone/>
            </a:pPr>
            <a:r>
              <a:rPr lang="en-US" sz="1200" b="1" kern="0" spc="200" dirty="0">
                <a:solidFill>
                  <a:srgbClr val="0E7C86"/>
                </a:solidFill>
                <a:latin typeface="Arial" pitchFamily="34" charset="0"/>
                <a:ea typeface="Arial" pitchFamily="34" charset="-122"/>
                <a:cs typeface="Arial" pitchFamily="34" charset="-120"/>
              </a:rPr>
              <a:t>THE METHOD</a:t>
            </a:r>
            <a:endParaRPr lang="en-US" sz="1200" dirty="0"/>
          </a:p>
        </p:txBody>
      </p:sp>
      <p:sp>
        <p:nvSpPr>
          <p:cNvPr id="3" name="Text 1"/>
          <p:cNvSpPr/>
          <p:nvPr/>
        </p:nvSpPr>
        <p:spPr>
          <a:xfrm>
            <a:off x="640080" y="658368"/>
            <a:ext cx="10972800" cy="566928"/>
          </a:xfrm>
          <a:prstGeom prst="rect">
            <a:avLst/>
          </a:prstGeom>
          <a:noFill/>
          <a:ln/>
        </p:spPr>
        <p:txBody>
          <a:bodyPr wrap="square" rtlCol="0" anchor="ctr"/>
          <a:lstStyle/>
          <a:p>
            <a:pPr marL="0" indent="0">
              <a:buNone/>
            </a:pPr>
            <a:r>
              <a:rPr lang="en-US" sz="3000" b="1" dirty="0">
                <a:solidFill>
                  <a:srgbClr val="1F2A33"/>
                </a:solidFill>
                <a:latin typeface="Cambria" pitchFamily="34" charset="0"/>
                <a:ea typeface="Cambria" pitchFamily="34" charset="-122"/>
                <a:cs typeface="Cambria" pitchFamily="34" charset="-120"/>
              </a:rPr>
              <a:t>The quantities, and the five cuts</a:t>
            </a:r>
            <a:endParaRPr lang="en-US" sz="3000" dirty="0"/>
          </a:p>
        </p:txBody>
      </p:sp>
      <p:sp>
        <p:nvSpPr>
          <p:cNvPr id="4" name="Text 2"/>
          <p:cNvSpPr/>
          <p:nvPr/>
        </p:nvSpPr>
        <p:spPr>
          <a:xfrm>
            <a:off x="640080" y="1298448"/>
            <a:ext cx="10881360" cy="365760"/>
          </a:xfrm>
          <a:prstGeom prst="rect">
            <a:avLst/>
          </a:prstGeom>
          <a:noFill/>
          <a:ln/>
        </p:spPr>
        <p:txBody>
          <a:bodyPr wrap="square" rtlCol="0" anchor="ctr"/>
          <a:lstStyle/>
          <a:p>
            <a:pPr marL="0" indent="0">
              <a:buNone/>
            </a:pPr>
            <a:r>
              <a:rPr lang="en-US" sz="1300" dirty="0">
                <a:solidFill>
                  <a:srgbClr val="2E3F4A"/>
                </a:solidFill>
                <a:latin typeface="Calibri" pitchFamily="34" charset="0"/>
                <a:ea typeface="Calibri" pitchFamily="34" charset="-122"/>
                <a:cs typeface="Calibri" pitchFamily="34" charset="-120"/>
              </a:rPr>
              <a:t>The CLAS12 timeline gives, for every run, the ADC integral of each wire normalized to the trigger count. 8 layers, {47,56,56,72,72,87,87,99} = 576 wires.</a:t>
            </a:r>
            <a:endParaRPr lang="en-US" sz="1300" dirty="0"/>
          </a:p>
        </p:txBody>
      </p:sp>
      <p:sp>
        <p:nvSpPr>
          <p:cNvPr id="5" name="Text 3"/>
          <p:cNvSpPr/>
          <p:nvPr/>
        </p:nvSpPr>
        <p:spPr>
          <a:xfrm>
            <a:off x="640080" y="1783080"/>
            <a:ext cx="5486400" cy="274320"/>
          </a:xfrm>
          <a:prstGeom prst="rect">
            <a:avLst/>
          </a:prstGeom>
          <a:noFill/>
          <a:ln/>
        </p:spPr>
        <p:txBody>
          <a:bodyPr wrap="square" lIns="0" tIns="0" rIns="0" bIns="0" rtlCol="0" anchor="ctr"/>
          <a:lstStyle/>
          <a:p>
            <a:pPr marL="0" indent="0">
              <a:buNone/>
            </a:pPr>
            <a:r>
              <a:rPr lang="en-US" sz="1500" b="1" dirty="0">
                <a:solidFill>
                  <a:srgbClr val="1F2A33"/>
                </a:solidFill>
                <a:latin typeface="Calibri" pitchFamily="34" charset="0"/>
                <a:ea typeface="Calibri" pitchFamily="34" charset="-122"/>
                <a:cs typeface="Calibri" pitchFamily="34" charset="-120"/>
              </a:rPr>
              <a:t>Quantities</a:t>
            </a:r>
            <a:endParaRPr lang="en-US" sz="1500" dirty="0"/>
          </a:p>
        </p:txBody>
      </p:sp>
      <p:sp>
        <p:nvSpPr>
          <p:cNvPr id="6" name="Shape 4"/>
          <p:cNvSpPr/>
          <p:nvPr/>
        </p:nvSpPr>
        <p:spPr>
          <a:xfrm>
            <a:off x="640080" y="2185416"/>
            <a:ext cx="5486400" cy="420624"/>
          </a:xfrm>
          <a:prstGeom prst="roundRect">
            <a:avLst>
              <a:gd name="adj" fmla="val 13043"/>
            </a:avLst>
          </a:prstGeom>
          <a:solidFill>
            <a:srgbClr val="F1F4F5"/>
          </a:solidFill>
          <a:ln w="9525">
            <a:solidFill>
              <a:srgbClr val="E2E7E9"/>
            </a:solidFill>
            <a:prstDash val="solid"/>
          </a:ln>
        </p:spPr>
        <p:txBody>
          <a:bodyPr/>
          <a:lstStyle/>
          <a:p>
            <a:endParaRPr lang="en-US"/>
          </a:p>
        </p:txBody>
      </p:sp>
      <p:sp>
        <p:nvSpPr>
          <p:cNvPr id="7" name="Text 5"/>
          <p:cNvSpPr/>
          <p:nvPr/>
        </p:nvSpPr>
        <p:spPr>
          <a:xfrm>
            <a:off x="777240" y="2212848"/>
            <a:ext cx="1691640" cy="365760"/>
          </a:xfrm>
          <a:prstGeom prst="rect">
            <a:avLst/>
          </a:prstGeom>
          <a:noFill/>
          <a:ln/>
        </p:spPr>
        <p:txBody>
          <a:bodyPr wrap="square" lIns="0" tIns="0" rIns="0" bIns="0" rtlCol="0" anchor="ctr"/>
          <a:lstStyle/>
          <a:p>
            <a:pPr marL="0" indent="0">
              <a:buNone/>
            </a:pPr>
            <a:r>
              <a:rPr lang="en-US" sz="1200" b="1" dirty="0">
                <a:solidFill>
                  <a:srgbClr val="1F2A33"/>
                </a:solidFill>
                <a:latin typeface="Courier New" pitchFamily="34" charset="0"/>
                <a:ea typeface="Courier New" pitchFamily="34" charset="-122"/>
                <a:cs typeface="Courier New" pitchFamily="34" charset="-120"/>
              </a:rPr>
              <a:t>value</a:t>
            </a:r>
            <a:endParaRPr lang="en-US" sz="1200" dirty="0"/>
          </a:p>
        </p:txBody>
      </p:sp>
      <p:sp>
        <p:nvSpPr>
          <p:cNvPr id="8" name="Text 6"/>
          <p:cNvSpPr/>
          <p:nvPr/>
        </p:nvSpPr>
        <p:spPr>
          <a:xfrm>
            <a:off x="2514600" y="2212848"/>
            <a:ext cx="3566160" cy="365760"/>
          </a:xfrm>
          <a:prstGeom prst="rect">
            <a:avLst/>
          </a:prstGeom>
          <a:noFill/>
          <a:ln/>
        </p:spPr>
        <p:txBody>
          <a:bodyPr wrap="square" lIns="0" tIns="0" rIns="0" bIns="0" rtlCol="0" anchor="ctr"/>
          <a:lstStyle/>
          <a:p>
            <a:pPr marL="0" indent="0">
              <a:buNone/>
            </a:pPr>
            <a:r>
              <a:rPr lang="en-US" sz="1150" dirty="0">
                <a:solidFill>
                  <a:srgbClr val="2E3F4A"/>
                </a:solidFill>
                <a:latin typeface="Calibri" pitchFamily="34" charset="0"/>
                <a:ea typeface="Calibri" pitchFamily="34" charset="-122"/>
                <a:cs typeface="Calibri" pitchFamily="34" charset="-120"/>
              </a:rPr>
              <a:t>the wire’s ADC integral in this run</a:t>
            </a:r>
            <a:endParaRPr lang="en-US" sz="1150" dirty="0"/>
          </a:p>
        </p:txBody>
      </p:sp>
      <p:sp>
        <p:nvSpPr>
          <p:cNvPr id="9" name="Text 7"/>
          <p:cNvSpPr/>
          <p:nvPr/>
        </p:nvSpPr>
        <p:spPr>
          <a:xfrm>
            <a:off x="777240" y="2688336"/>
            <a:ext cx="1691640" cy="365760"/>
          </a:xfrm>
          <a:prstGeom prst="rect">
            <a:avLst/>
          </a:prstGeom>
          <a:noFill/>
          <a:ln/>
        </p:spPr>
        <p:txBody>
          <a:bodyPr wrap="square" lIns="0" tIns="0" rIns="0" bIns="0" rtlCol="0" anchor="ctr"/>
          <a:lstStyle/>
          <a:p>
            <a:pPr marL="0" indent="0">
              <a:buNone/>
            </a:pPr>
            <a:r>
              <a:rPr lang="en-US" sz="1200" b="1" dirty="0">
                <a:solidFill>
                  <a:srgbClr val="1F2A33"/>
                </a:solidFill>
                <a:latin typeface="Courier New" pitchFamily="34" charset="0"/>
                <a:ea typeface="Courier New" pitchFamily="34" charset="-122"/>
                <a:cs typeface="Courier New" pitchFamily="34" charset="-120"/>
              </a:rPr>
              <a:t>lay_med</a:t>
            </a:r>
            <a:endParaRPr lang="en-US" sz="1200" dirty="0"/>
          </a:p>
        </p:txBody>
      </p:sp>
      <p:sp>
        <p:nvSpPr>
          <p:cNvPr id="10" name="Text 8"/>
          <p:cNvSpPr/>
          <p:nvPr/>
        </p:nvSpPr>
        <p:spPr>
          <a:xfrm>
            <a:off x="2514600" y="2688336"/>
            <a:ext cx="3566160" cy="365760"/>
          </a:xfrm>
          <a:prstGeom prst="rect">
            <a:avLst/>
          </a:prstGeom>
          <a:noFill/>
          <a:ln/>
        </p:spPr>
        <p:txBody>
          <a:bodyPr wrap="square" lIns="0" tIns="0" rIns="0" bIns="0" rtlCol="0" anchor="ctr"/>
          <a:lstStyle/>
          <a:p>
            <a:pPr marL="0" indent="0">
              <a:buNone/>
            </a:pPr>
            <a:r>
              <a:rPr lang="en-US" sz="1150" dirty="0">
                <a:solidFill>
                  <a:srgbClr val="2E3F4A"/>
                </a:solidFill>
                <a:latin typeface="Calibri" pitchFamily="34" charset="0"/>
                <a:ea typeface="Calibri" pitchFamily="34" charset="-122"/>
                <a:cs typeface="Calibri" pitchFamily="34" charset="-120"/>
              </a:rPr>
              <a:t>median value over that layer’s wires, this run</a:t>
            </a:r>
            <a:endParaRPr lang="en-US" sz="1150" dirty="0"/>
          </a:p>
        </p:txBody>
      </p:sp>
      <p:sp>
        <p:nvSpPr>
          <p:cNvPr id="11" name="Shape 9"/>
          <p:cNvSpPr/>
          <p:nvPr/>
        </p:nvSpPr>
        <p:spPr>
          <a:xfrm>
            <a:off x="640080" y="3136392"/>
            <a:ext cx="5486400" cy="420624"/>
          </a:xfrm>
          <a:prstGeom prst="roundRect">
            <a:avLst>
              <a:gd name="adj" fmla="val 13043"/>
            </a:avLst>
          </a:prstGeom>
          <a:solidFill>
            <a:srgbClr val="F1F4F5"/>
          </a:solidFill>
          <a:ln w="9525">
            <a:solidFill>
              <a:srgbClr val="E2E7E9"/>
            </a:solidFill>
            <a:prstDash val="solid"/>
          </a:ln>
        </p:spPr>
        <p:txBody>
          <a:bodyPr/>
          <a:lstStyle/>
          <a:p>
            <a:endParaRPr lang="en-US"/>
          </a:p>
        </p:txBody>
      </p:sp>
      <p:sp>
        <p:nvSpPr>
          <p:cNvPr id="12" name="Text 10"/>
          <p:cNvSpPr/>
          <p:nvPr/>
        </p:nvSpPr>
        <p:spPr>
          <a:xfrm>
            <a:off x="777240" y="3163824"/>
            <a:ext cx="1691640" cy="365760"/>
          </a:xfrm>
          <a:prstGeom prst="rect">
            <a:avLst/>
          </a:prstGeom>
          <a:noFill/>
          <a:ln/>
        </p:spPr>
        <p:txBody>
          <a:bodyPr wrap="square" lIns="0" tIns="0" rIns="0" bIns="0" rtlCol="0" anchor="ctr"/>
          <a:lstStyle/>
          <a:p>
            <a:pPr marL="0" indent="0">
              <a:buNone/>
            </a:pPr>
            <a:r>
              <a:rPr lang="en-US" sz="1200" b="1" dirty="0">
                <a:solidFill>
                  <a:srgbClr val="0E7C86"/>
                </a:solidFill>
                <a:latin typeface="Courier New" pitchFamily="34" charset="0"/>
                <a:ea typeface="Courier New" pitchFamily="34" charset="-122"/>
                <a:cs typeface="Courier New" pitchFamily="34" charset="-120"/>
              </a:rPr>
              <a:t>rel_to_layer</a:t>
            </a:r>
            <a:endParaRPr lang="en-US" sz="1200" dirty="0"/>
          </a:p>
        </p:txBody>
      </p:sp>
      <p:sp>
        <p:nvSpPr>
          <p:cNvPr id="13" name="Text 11"/>
          <p:cNvSpPr/>
          <p:nvPr/>
        </p:nvSpPr>
        <p:spPr>
          <a:xfrm>
            <a:off x="2514600" y="3163824"/>
            <a:ext cx="3566160" cy="365760"/>
          </a:xfrm>
          <a:prstGeom prst="rect">
            <a:avLst/>
          </a:prstGeom>
          <a:noFill/>
          <a:ln/>
        </p:spPr>
        <p:txBody>
          <a:bodyPr wrap="square" lIns="0" tIns="0" rIns="0" bIns="0" rtlCol="0" anchor="ctr"/>
          <a:lstStyle/>
          <a:p>
            <a:pPr marL="0" indent="0">
              <a:buNone/>
            </a:pPr>
            <a:r>
              <a:rPr lang="en-US" sz="1150" dirty="0">
                <a:solidFill>
                  <a:srgbClr val="2E3F4A"/>
                </a:solidFill>
                <a:highlight>
                  <a:srgbClr val="FFFF00"/>
                </a:highlight>
                <a:latin typeface="Calibri" pitchFamily="34" charset="0"/>
                <a:ea typeface="Calibri" pitchFamily="34" charset="-122"/>
                <a:cs typeface="Calibri" pitchFamily="34" charset="-120"/>
              </a:rPr>
              <a:t>value / lay_med   —  vs its neighbours</a:t>
            </a:r>
            <a:endParaRPr lang="en-US" sz="1150" dirty="0">
              <a:highlight>
                <a:srgbClr val="FFFF00"/>
              </a:highlight>
            </a:endParaRPr>
          </a:p>
        </p:txBody>
      </p:sp>
      <p:sp>
        <p:nvSpPr>
          <p:cNvPr id="14" name="Text 12"/>
          <p:cNvSpPr/>
          <p:nvPr/>
        </p:nvSpPr>
        <p:spPr>
          <a:xfrm>
            <a:off x="777240" y="3639312"/>
            <a:ext cx="1691640" cy="365760"/>
          </a:xfrm>
          <a:prstGeom prst="rect">
            <a:avLst/>
          </a:prstGeom>
          <a:noFill/>
          <a:ln/>
        </p:spPr>
        <p:txBody>
          <a:bodyPr wrap="square" lIns="0" tIns="0" rIns="0" bIns="0" rtlCol="0" anchor="ctr"/>
          <a:lstStyle/>
          <a:p>
            <a:pPr marL="0" indent="0">
              <a:buNone/>
            </a:pPr>
            <a:r>
              <a:rPr lang="en-US" sz="1200" b="1" dirty="0">
                <a:solidFill>
                  <a:srgbClr val="1F2A33"/>
                </a:solidFill>
                <a:latin typeface="Courier New" pitchFamily="34" charset="0"/>
                <a:ea typeface="Courier New" pitchFamily="34" charset="-122"/>
                <a:cs typeface="Courier New" pitchFamily="34" charset="-120"/>
              </a:rPr>
              <a:t>own_norm</a:t>
            </a:r>
            <a:endParaRPr lang="en-US" sz="1200" dirty="0"/>
          </a:p>
        </p:txBody>
      </p:sp>
      <p:sp>
        <p:nvSpPr>
          <p:cNvPr id="15" name="Text 13"/>
          <p:cNvSpPr/>
          <p:nvPr/>
        </p:nvSpPr>
        <p:spPr>
          <a:xfrm>
            <a:off x="2514600" y="3639312"/>
            <a:ext cx="3566160" cy="365760"/>
          </a:xfrm>
          <a:prstGeom prst="rect">
            <a:avLst/>
          </a:prstGeom>
          <a:noFill/>
          <a:ln/>
        </p:spPr>
        <p:txBody>
          <a:bodyPr wrap="square" lIns="0" tIns="0" rIns="0" bIns="0" rtlCol="0" anchor="ctr"/>
          <a:lstStyle/>
          <a:p>
            <a:pPr marL="0" indent="0">
              <a:buNone/>
            </a:pPr>
            <a:r>
              <a:rPr lang="en-US" sz="1150" dirty="0">
                <a:solidFill>
                  <a:srgbClr val="2E3F4A"/>
                </a:solidFill>
                <a:latin typeface="Calibri" pitchFamily="34" charset="0"/>
                <a:ea typeface="Calibri" pitchFamily="34" charset="-122"/>
                <a:cs typeface="Calibri" pitchFamily="34" charset="-120"/>
              </a:rPr>
              <a:t>median of rel_to_layer over its healthy runs</a:t>
            </a:r>
            <a:endParaRPr lang="en-US" sz="1150" dirty="0"/>
          </a:p>
        </p:txBody>
      </p:sp>
      <p:sp>
        <p:nvSpPr>
          <p:cNvPr id="16" name="Shape 14"/>
          <p:cNvSpPr/>
          <p:nvPr/>
        </p:nvSpPr>
        <p:spPr>
          <a:xfrm>
            <a:off x="640080" y="4087368"/>
            <a:ext cx="5486400" cy="420624"/>
          </a:xfrm>
          <a:prstGeom prst="roundRect">
            <a:avLst>
              <a:gd name="adj" fmla="val 13043"/>
            </a:avLst>
          </a:prstGeom>
          <a:solidFill>
            <a:srgbClr val="F1F4F5"/>
          </a:solidFill>
          <a:ln w="9525">
            <a:solidFill>
              <a:srgbClr val="E2E7E9"/>
            </a:solidFill>
            <a:prstDash val="solid"/>
          </a:ln>
        </p:spPr>
        <p:txBody>
          <a:bodyPr/>
          <a:lstStyle/>
          <a:p>
            <a:endParaRPr lang="en-US"/>
          </a:p>
        </p:txBody>
      </p:sp>
      <p:sp>
        <p:nvSpPr>
          <p:cNvPr id="17" name="Text 15"/>
          <p:cNvSpPr/>
          <p:nvPr/>
        </p:nvSpPr>
        <p:spPr>
          <a:xfrm>
            <a:off x="777240" y="4114800"/>
            <a:ext cx="1691640" cy="365760"/>
          </a:xfrm>
          <a:prstGeom prst="rect">
            <a:avLst/>
          </a:prstGeom>
          <a:noFill/>
          <a:ln/>
        </p:spPr>
        <p:txBody>
          <a:bodyPr wrap="square" lIns="0" tIns="0" rIns="0" bIns="0" rtlCol="0" anchor="ctr"/>
          <a:lstStyle/>
          <a:p>
            <a:pPr marL="0" indent="0">
              <a:buNone/>
            </a:pPr>
            <a:r>
              <a:rPr lang="en-US" sz="1200" b="1" dirty="0">
                <a:solidFill>
                  <a:srgbClr val="0E7C86"/>
                </a:solidFill>
                <a:latin typeface="Courier New" pitchFamily="34" charset="0"/>
                <a:ea typeface="Courier New" pitchFamily="34" charset="-122"/>
                <a:cs typeface="Courier New" pitchFamily="34" charset="-120"/>
              </a:rPr>
              <a:t>cv</a:t>
            </a:r>
            <a:endParaRPr lang="en-US" sz="1200" dirty="0"/>
          </a:p>
        </p:txBody>
      </p:sp>
      <p:sp>
        <p:nvSpPr>
          <p:cNvPr id="18" name="Text 16"/>
          <p:cNvSpPr/>
          <p:nvPr/>
        </p:nvSpPr>
        <p:spPr>
          <a:xfrm>
            <a:off x="2514600" y="4114800"/>
            <a:ext cx="3566160" cy="365760"/>
          </a:xfrm>
          <a:prstGeom prst="rect">
            <a:avLst/>
          </a:prstGeom>
          <a:noFill/>
          <a:ln/>
        </p:spPr>
        <p:txBody>
          <a:bodyPr wrap="square" lIns="0" tIns="0" rIns="0" bIns="0" rtlCol="0" anchor="ctr"/>
          <a:lstStyle/>
          <a:p>
            <a:pPr marL="0" indent="0">
              <a:buNone/>
            </a:pPr>
            <a:r>
              <a:rPr lang="en-US" sz="1150" dirty="0">
                <a:solidFill>
                  <a:srgbClr val="2E3F4A"/>
                </a:solidFill>
                <a:highlight>
                  <a:srgbClr val="FFFF00"/>
                </a:highlight>
                <a:latin typeface="Calibri" pitchFamily="34" charset="0"/>
                <a:ea typeface="Calibri" pitchFamily="34" charset="-122"/>
                <a:cs typeface="Calibri" pitchFamily="34" charset="-120"/>
              </a:rPr>
              <a:t>rel_to_layer / own_norm   —  vs itself</a:t>
            </a:r>
            <a:endParaRPr lang="en-US" sz="1150" dirty="0">
              <a:highlight>
                <a:srgbClr val="FFFF00"/>
              </a:highlight>
            </a:endParaRPr>
          </a:p>
        </p:txBody>
      </p:sp>
      <p:sp>
        <p:nvSpPr>
          <p:cNvPr id="19" name="Text 17"/>
          <p:cNvSpPr/>
          <p:nvPr/>
        </p:nvSpPr>
        <p:spPr>
          <a:xfrm>
            <a:off x="777240" y="4590288"/>
            <a:ext cx="1691640" cy="365760"/>
          </a:xfrm>
          <a:prstGeom prst="rect">
            <a:avLst/>
          </a:prstGeom>
          <a:noFill/>
          <a:ln/>
        </p:spPr>
        <p:txBody>
          <a:bodyPr wrap="square" lIns="0" tIns="0" rIns="0" bIns="0" rtlCol="0" anchor="ctr"/>
          <a:lstStyle/>
          <a:p>
            <a:pPr marL="0" indent="0">
              <a:buNone/>
            </a:pPr>
            <a:r>
              <a:rPr lang="en-US" sz="1200" b="1" dirty="0">
                <a:solidFill>
                  <a:srgbClr val="6B7A83"/>
                </a:solidFill>
                <a:latin typeface="Courier New" pitchFamily="34" charset="0"/>
                <a:ea typeface="Courier New" pitchFamily="34" charset="-122"/>
                <a:cs typeface="Courier New" pitchFamily="34" charset="-120"/>
              </a:rPr>
              <a:t>brightness</a:t>
            </a:r>
            <a:endParaRPr lang="en-US" sz="1200" dirty="0"/>
          </a:p>
        </p:txBody>
      </p:sp>
      <p:sp>
        <p:nvSpPr>
          <p:cNvPr id="20" name="Text 18"/>
          <p:cNvSpPr/>
          <p:nvPr/>
        </p:nvSpPr>
        <p:spPr>
          <a:xfrm>
            <a:off x="2514600" y="4590288"/>
            <a:ext cx="3566160" cy="365760"/>
          </a:xfrm>
          <a:prstGeom prst="rect">
            <a:avLst/>
          </a:prstGeom>
          <a:noFill/>
          <a:ln/>
        </p:spPr>
        <p:txBody>
          <a:bodyPr wrap="square" lIns="0" tIns="0" rIns="0" bIns="0" rtlCol="0" anchor="ctr"/>
          <a:lstStyle/>
          <a:p>
            <a:pPr marL="0" indent="0">
              <a:buNone/>
            </a:pPr>
            <a:r>
              <a:rPr lang="en-US" sz="1150" dirty="0">
                <a:solidFill>
                  <a:srgbClr val="2E3F4A"/>
                </a:solidFill>
                <a:latin typeface="Calibri" pitchFamily="34" charset="0"/>
                <a:ea typeface="Calibri" pitchFamily="34" charset="-122"/>
                <a:cs typeface="Calibri" pitchFamily="34" charset="-120"/>
              </a:rPr>
              <a:t>the run’s overall level (run quality only)</a:t>
            </a:r>
            <a:endParaRPr lang="en-US" sz="1150" dirty="0"/>
          </a:p>
        </p:txBody>
      </p:sp>
      <p:sp>
        <p:nvSpPr>
          <p:cNvPr id="22" name="Text 20"/>
          <p:cNvSpPr/>
          <p:nvPr/>
        </p:nvSpPr>
        <p:spPr>
          <a:xfrm>
            <a:off x="6492240" y="1783080"/>
            <a:ext cx="5029200" cy="274320"/>
          </a:xfrm>
          <a:prstGeom prst="rect">
            <a:avLst/>
          </a:prstGeom>
          <a:noFill/>
          <a:ln/>
        </p:spPr>
        <p:txBody>
          <a:bodyPr wrap="square" lIns="0" tIns="0" rIns="0" bIns="0" rtlCol="0" anchor="ctr"/>
          <a:lstStyle/>
          <a:p>
            <a:pPr marL="0" indent="0">
              <a:buNone/>
            </a:pPr>
            <a:r>
              <a:rPr lang="en-US" sz="1500" b="1" dirty="0">
                <a:solidFill>
                  <a:srgbClr val="1F2A33"/>
                </a:solidFill>
                <a:latin typeface="Calibri" pitchFamily="34" charset="0"/>
                <a:ea typeface="Calibri" pitchFamily="34" charset="-122"/>
                <a:cs typeface="Calibri" pitchFamily="34" charset="-120"/>
              </a:rPr>
              <a:t>Five cuts — an entry is flagged if any fires</a:t>
            </a:r>
            <a:endParaRPr lang="en-US" sz="1500" dirty="0"/>
          </a:p>
        </p:txBody>
      </p:sp>
      <p:sp>
        <p:nvSpPr>
          <p:cNvPr id="23" name="Shape 21"/>
          <p:cNvSpPr/>
          <p:nvPr/>
        </p:nvSpPr>
        <p:spPr>
          <a:xfrm>
            <a:off x="6492240" y="2185416"/>
            <a:ext cx="5029200" cy="420624"/>
          </a:xfrm>
          <a:prstGeom prst="roundRect">
            <a:avLst>
              <a:gd name="adj" fmla="val 13043"/>
            </a:avLst>
          </a:prstGeom>
          <a:solidFill>
            <a:srgbClr val="F1F4F5"/>
          </a:solidFill>
          <a:ln w="9525">
            <a:solidFill>
              <a:srgbClr val="E2E7E9"/>
            </a:solidFill>
            <a:prstDash val="solid"/>
          </a:ln>
        </p:spPr>
        <p:txBody>
          <a:bodyPr/>
          <a:lstStyle/>
          <a:p>
            <a:endParaRPr lang="en-US"/>
          </a:p>
        </p:txBody>
      </p:sp>
      <p:sp>
        <p:nvSpPr>
          <p:cNvPr id="24" name="Shape 22"/>
          <p:cNvSpPr/>
          <p:nvPr/>
        </p:nvSpPr>
        <p:spPr>
          <a:xfrm>
            <a:off x="6629400" y="2331720"/>
            <a:ext cx="146304" cy="146304"/>
          </a:xfrm>
          <a:prstGeom prst="ellipse">
            <a:avLst/>
          </a:prstGeom>
          <a:solidFill>
            <a:srgbClr val="C1553B"/>
          </a:solidFill>
          <a:ln/>
        </p:spPr>
        <p:txBody>
          <a:bodyPr/>
          <a:lstStyle/>
          <a:p>
            <a:endParaRPr lang="en-US"/>
          </a:p>
        </p:txBody>
      </p:sp>
      <p:sp>
        <p:nvSpPr>
          <p:cNvPr id="25" name="Text 23"/>
          <p:cNvSpPr/>
          <p:nvPr/>
        </p:nvSpPr>
        <p:spPr>
          <a:xfrm>
            <a:off x="6876288" y="2212848"/>
            <a:ext cx="1371600" cy="365760"/>
          </a:xfrm>
          <a:prstGeom prst="rect">
            <a:avLst/>
          </a:prstGeom>
          <a:noFill/>
          <a:ln/>
        </p:spPr>
        <p:txBody>
          <a:bodyPr wrap="square" lIns="0" tIns="0" rIns="0" bIns="0" rtlCol="0" anchor="ctr"/>
          <a:lstStyle/>
          <a:p>
            <a:pPr marL="0" indent="0">
              <a:buNone/>
            </a:pPr>
            <a:r>
              <a:rPr lang="en-US" sz="1150" b="1" dirty="0">
                <a:solidFill>
                  <a:srgbClr val="1F2A33"/>
                </a:solidFill>
                <a:latin typeface="Courier New" pitchFamily="34" charset="0"/>
                <a:ea typeface="Courier New" pitchFamily="34" charset="-122"/>
                <a:cs typeface="Courier New" pitchFamily="34" charset="-120"/>
              </a:rPr>
              <a:t>low/dead</a:t>
            </a:r>
            <a:endParaRPr lang="en-US" sz="1150" dirty="0"/>
          </a:p>
        </p:txBody>
      </p:sp>
      <p:sp>
        <p:nvSpPr>
          <p:cNvPr id="26" name="Text 24"/>
          <p:cNvSpPr/>
          <p:nvPr/>
        </p:nvSpPr>
        <p:spPr>
          <a:xfrm>
            <a:off x="8183880" y="2212848"/>
            <a:ext cx="1691640" cy="365760"/>
          </a:xfrm>
          <a:prstGeom prst="rect">
            <a:avLst/>
          </a:prstGeom>
          <a:noFill/>
          <a:ln/>
        </p:spPr>
        <p:txBody>
          <a:bodyPr wrap="square" lIns="0" tIns="0" rIns="0" bIns="0" rtlCol="0" anchor="ctr"/>
          <a:lstStyle/>
          <a:p>
            <a:pPr marL="0" indent="0">
              <a:buNone/>
            </a:pPr>
            <a:r>
              <a:rPr lang="en-US" sz="1050" dirty="0">
                <a:solidFill>
                  <a:srgbClr val="0E7C86"/>
                </a:solidFill>
                <a:latin typeface="Courier New" pitchFamily="34" charset="0"/>
                <a:ea typeface="Courier New" pitchFamily="34" charset="-122"/>
                <a:cs typeface="Courier New" pitchFamily="34" charset="-120"/>
              </a:rPr>
              <a:t>cv &lt; 0.5</a:t>
            </a:r>
            <a:endParaRPr lang="en-US" sz="1050" dirty="0"/>
          </a:p>
        </p:txBody>
      </p:sp>
      <p:sp>
        <p:nvSpPr>
          <p:cNvPr id="27" name="Text 25"/>
          <p:cNvSpPr/>
          <p:nvPr/>
        </p:nvSpPr>
        <p:spPr>
          <a:xfrm>
            <a:off x="10012680" y="2212848"/>
            <a:ext cx="1417320" cy="365760"/>
          </a:xfrm>
          <a:prstGeom prst="rect">
            <a:avLst/>
          </a:prstGeom>
          <a:noFill/>
          <a:ln/>
        </p:spPr>
        <p:txBody>
          <a:bodyPr wrap="square" lIns="0" tIns="0" rIns="0" bIns="0" rtlCol="0" anchor="ctr"/>
          <a:lstStyle/>
          <a:p>
            <a:pPr marL="0" indent="0">
              <a:buNone/>
            </a:pPr>
            <a:r>
              <a:rPr lang="en-US" sz="1000" dirty="0">
                <a:solidFill>
                  <a:srgbClr val="6B7A83"/>
                </a:solidFill>
                <a:latin typeface="Calibri" pitchFamily="34" charset="0"/>
                <a:ea typeface="Calibri" pitchFamily="34" charset="-122"/>
                <a:cs typeface="Calibri" pitchFamily="34" charset="-120"/>
              </a:rPr>
              <a:t>under half its own normal</a:t>
            </a:r>
            <a:endParaRPr lang="en-US" sz="1000" dirty="0"/>
          </a:p>
        </p:txBody>
      </p:sp>
      <p:sp>
        <p:nvSpPr>
          <p:cNvPr id="28" name="Shape 26"/>
          <p:cNvSpPr/>
          <p:nvPr/>
        </p:nvSpPr>
        <p:spPr>
          <a:xfrm>
            <a:off x="6629400" y="2807208"/>
            <a:ext cx="146304" cy="146304"/>
          </a:xfrm>
          <a:prstGeom prst="ellipse">
            <a:avLst/>
          </a:prstGeom>
          <a:solidFill>
            <a:srgbClr val="C1553B"/>
          </a:solidFill>
          <a:ln/>
        </p:spPr>
        <p:txBody>
          <a:bodyPr/>
          <a:lstStyle/>
          <a:p>
            <a:endParaRPr lang="en-US"/>
          </a:p>
        </p:txBody>
      </p:sp>
      <p:sp>
        <p:nvSpPr>
          <p:cNvPr id="29" name="Text 27"/>
          <p:cNvSpPr/>
          <p:nvPr/>
        </p:nvSpPr>
        <p:spPr>
          <a:xfrm>
            <a:off x="6876288" y="2688336"/>
            <a:ext cx="1371600" cy="365760"/>
          </a:xfrm>
          <a:prstGeom prst="rect">
            <a:avLst/>
          </a:prstGeom>
          <a:noFill/>
          <a:ln/>
        </p:spPr>
        <p:txBody>
          <a:bodyPr wrap="square" lIns="0" tIns="0" rIns="0" bIns="0" rtlCol="0" anchor="ctr"/>
          <a:lstStyle/>
          <a:p>
            <a:pPr marL="0" indent="0">
              <a:buNone/>
            </a:pPr>
            <a:r>
              <a:rPr lang="en-US" sz="1150" b="1" dirty="0">
                <a:solidFill>
                  <a:srgbClr val="1F2A33"/>
                </a:solidFill>
                <a:latin typeface="Courier New" pitchFamily="34" charset="0"/>
                <a:ea typeface="Courier New" pitchFamily="34" charset="-122"/>
                <a:cs typeface="Courier New" pitchFamily="34" charset="-120"/>
              </a:rPr>
              <a:t>low vs layer</a:t>
            </a:r>
            <a:endParaRPr lang="en-US" sz="1150" dirty="0"/>
          </a:p>
        </p:txBody>
      </p:sp>
      <p:sp>
        <p:nvSpPr>
          <p:cNvPr id="30" name="Text 28"/>
          <p:cNvSpPr/>
          <p:nvPr/>
        </p:nvSpPr>
        <p:spPr>
          <a:xfrm>
            <a:off x="8183880" y="2688336"/>
            <a:ext cx="1691640" cy="365760"/>
          </a:xfrm>
          <a:prstGeom prst="rect">
            <a:avLst/>
          </a:prstGeom>
          <a:noFill/>
          <a:ln/>
        </p:spPr>
        <p:txBody>
          <a:bodyPr wrap="square" lIns="0" tIns="0" rIns="0" bIns="0" rtlCol="0" anchor="ctr"/>
          <a:lstStyle/>
          <a:p>
            <a:pPr marL="0" indent="0">
              <a:buNone/>
            </a:pPr>
            <a:r>
              <a:rPr lang="en-US" sz="1050" dirty="0">
                <a:solidFill>
                  <a:srgbClr val="0E7C86"/>
                </a:solidFill>
                <a:latin typeface="Courier New" pitchFamily="34" charset="0"/>
                <a:ea typeface="Courier New" pitchFamily="34" charset="-122"/>
                <a:cs typeface="Courier New" pitchFamily="34" charset="-120"/>
              </a:rPr>
              <a:t>rel_to_layer &lt; 0.5</a:t>
            </a:r>
            <a:endParaRPr lang="en-US" sz="1050" dirty="0"/>
          </a:p>
        </p:txBody>
      </p:sp>
      <p:sp>
        <p:nvSpPr>
          <p:cNvPr id="31" name="Text 29"/>
          <p:cNvSpPr/>
          <p:nvPr/>
        </p:nvSpPr>
        <p:spPr>
          <a:xfrm>
            <a:off x="10012680" y="2688336"/>
            <a:ext cx="1417320" cy="365760"/>
          </a:xfrm>
          <a:prstGeom prst="rect">
            <a:avLst/>
          </a:prstGeom>
          <a:noFill/>
          <a:ln/>
        </p:spPr>
        <p:txBody>
          <a:bodyPr wrap="square" lIns="0" tIns="0" rIns="0" bIns="0" rtlCol="0" anchor="ctr"/>
          <a:lstStyle/>
          <a:p>
            <a:pPr marL="0" indent="0">
              <a:buNone/>
            </a:pPr>
            <a:r>
              <a:rPr lang="en-US" sz="1000" dirty="0">
                <a:solidFill>
                  <a:srgbClr val="6B7A83"/>
                </a:solidFill>
                <a:latin typeface="Calibri" pitchFamily="34" charset="0"/>
                <a:ea typeface="Calibri" pitchFamily="34" charset="-122"/>
                <a:cs typeface="Calibri" pitchFamily="34" charset="-120"/>
              </a:rPr>
              <a:t>under half its neighbours</a:t>
            </a:r>
            <a:endParaRPr lang="en-US" sz="1000" dirty="0"/>
          </a:p>
        </p:txBody>
      </p:sp>
      <p:sp>
        <p:nvSpPr>
          <p:cNvPr id="32" name="Shape 30"/>
          <p:cNvSpPr/>
          <p:nvPr/>
        </p:nvSpPr>
        <p:spPr>
          <a:xfrm>
            <a:off x="6492240" y="3136392"/>
            <a:ext cx="5029200" cy="420624"/>
          </a:xfrm>
          <a:prstGeom prst="roundRect">
            <a:avLst>
              <a:gd name="adj" fmla="val 13043"/>
            </a:avLst>
          </a:prstGeom>
          <a:solidFill>
            <a:srgbClr val="F1F4F5"/>
          </a:solidFill>
          <a:ln w="9525">
            <a:solidFill>
              <a:srgbClr val="E2E7E9"/>
            </a:solidFill>
            <a:prstDash val="solid"/>
          </a:ln>
        </p:spPr>
        <p:txBody>
          <a:bodyPr/>
          <a:lstStyle/>
          <a:p>
            <a:endParaRPr lang="en-US"/>
          </a:p>
        </p:txBody>
      </p:sp>
      <p:sp>
        <p:nvSpPr>
          <p:cNvPr id="33" name="Shape 31"/>
          <p:cNvSpPr/>
          <p:nvPr/>
        </p:nvSpPr>
        <p:spPr>
          <a:xfrm>
            <a:off x="6629400" y="3282696"/>
            <a:ext cx="146304" cy="146304"/>
          </a:xfrm>
          <a:prstGeom prst="ellipse">
            <a:avLst/>
          </a:prstGeom>
          <a:solidFill>
            <a:srgbClr val="B8860B"/>
          </a:solidFill>
          <a:ln/>
        </p:spPr>
        <p:txBody>
          <a:bodyPr/>
          <a:lstStyle/>
          <a:p>
            <a:endParaRPr lang="en-US"/>
          </a:p>
        </p:txBody>
      </p:sp>
      <p:sp>
        <p:nvSpPr>
          <p:cNvPr id="34" name="Text 32"/>
          <p:cNvSpPr/>
          <p:nvPr/>
        </p:nvSpPr>
        <p:spPr>
          <a:xfrm>
            <a:off x="6876288" y="3163824"/>
            <a:ext cx="1371600" cy="365760"/>
          </a:xfrm>
          <a:prstGeom prst="rect">
            <a:avLst/>
          </a:prstGeom>
          <a:noFill/>
          <a:ln/>
        </p:spPr>
        <p:txBody>
          <a:bodyPr wrap="square" lIns="0" tIns="0" rIns="0" bIns="0" rtlCol="0" anchor="ctr"/>
          <a:lstStyle/>
          <a:p>
            <a:pPr marL="0" indent="0">
              <a:buNone/>
            </a:pPr>
            <a:r>
              <a:rPr lang="en-US" sz="1150" b="1" dirty="0">
                <a:solidFill>
                  <a:srgbClr val="1F2A33"/>
                </a:solidFill>
                <a:latin typeface="Courier New" pitchFamily="34" charset="0"/>
                <a:ea typeface="Courier New" pitchFamily="34" charset="-122"/>
                <a:cs typeface="Courier New" pitchFamily="34" charset="-120"/>
              </a:rPr>
              <a:t>hot</a:t>
            </a:r>
            <a:endParaRPr lang="en-US" sz="1150" dirty="0"/>
          </a:p>
        </p:txBody>
      </p:sp>
      <p:sp>
        <p:nvSpPr>
          <p:cNvPr id="35" name="Text 33"/>
          <p:cNvSpPr/>
          <p:nvPr/>
        </p:nvSpPr>
        <p:spPr>
          <a:xfrm>
            <a:off x="8183880" y="3163824"/>
            <a:ext cx="1691640" cy="365760"/>
          </a:xfrm>
          <a:prstGeom prst="rect">
            <a:avLst/>
          </a:prstGeom>
          <a:noFill/>
          <a:ln/>
        </p:spPr>
        <p:txBody>
          <a:bodyPr wrap="square" lIns="0" tIns="0" rIns="0" bIns="0" rtlCol="0" anchor="ctr"/>
          <a:lstStyle/>
          <a:p>
            <a:pPr marL="0" indent="0">
              <a:buNone/>
            </a:pPr>
            <a:r>
              <a:rPr lang="en-US" sz="1050" dirty="0">
                <a:solidFill>
                  <a:srgbClr val="0E7C86"/>
                </a:solidFill>
                <a:latin typeface="Courier New" pitchFamily="34" charset="0"/>
                <a:ea typeface="Courier New" pitchFamily="34" charset="-122"/>
                <a:cs typeface="Courier New" pitchFamily="34" charset="-120"/>
              </a:rPr>
              <a:t>cv &gt; 2.0</a:t>
            </a:r>
            <a:endParaRPr lang="en-US" sz="1050" dirty="0"/>
          </a:p>
        </p:txBody>
      </p:sp>
      <p:sp>
        <p:nvSpPr>
          <p:cNvPr id="36" name="Text 34"/>
          <p:cNvSpPr/>
          <p:nvPr/>
        </p:nvSpPr>
        <p:spPr>
          <a:xfrm>
            <a:off x="10012680" y="3163824"/>
            <a:ext cx="1417320" cy="365760"/>
          </a:xfrm>
          <a:prstGeom prst="rect">
            <a:avLst/>
          </a:prstGeom>
          <a:noFill/>
          <a:ln/>
        </p:spPr>
        <p:txBody>
          <a:bodyPr wrap="square" lIns="0" tIns="0" rIns="0" bIns="0" rtlCol="0" anchor="ctr"/>
          <a:lstStyle/>
          <a:p>
            <a:pPr marL="0" indent="0">
              <a:buNone/>
            </a:pPr>
            <a:r>
              <a:rPr lang="en-US" sz="1000" dirty="0">
                <a:solidFill>
                  <a:srgbClr val="6B7A83"/>
                </a:solidFill>
                <a:latin typeface="Calibri" pitchFamily="34" charset="0"/>
                <a:ea typeface="Calibri" pitchFamily="34" charset="-122"/>
                <a:cs typeface="Calibri" pitchFamily="34" charset="-120"/>
              </a:rPr>
              <a:t>twice its own normal</a:t>
            </a:r>
            <a:endParaRPr lang="en-US" sz="1000" dirty="0"/>
          </a:p>
        </p:txBody>
      </p:sp>
      <p:sp>
        <p:nvSpPr>
          <p:cNvPr id="37" name="Shape 35"/>
          <p:cNvSpPr/>
          <p:nvPr/>
        </p:nvSpPr>
        <p:spPr>
          <a:xfrm>
            <a:off x="6629400" y="3758184"/>
            <a:ext cx="146304" cy="146304"/>
          </a:xfrm>
          <a:prstGeom prst="ellipse">
            <a:avLst/>
          </a:prstGeom>
          <a:solidFill>
            <a:srgbClr val="B8860B"/>
          </a:solidFill>
          <a:ln/>
        </p:spPr>
        <p:txBody>
          <a:bodyPr/>
          <a:lstStyle/>
          <a:p>
            <a:endParaRPr lang="en-US"/>
          </a:p>
        </p:txBody>
      </p:sp>
      <p:sp>
        <p:nvSpPr>
          <p:cNvPr id="38" name="Text 36"/>
          <p:cNvSpPr/>
          <p:nvPr/>
        </p:nvSpPr>
        <p:spPr>
          <a:xfrm>
            <a:off x="6876288" y="3639312"/>
            <a:ext cx="1371600" cy="365760"/>
          </a:xfrm>
          <a:prstGeom prst="rect">
            <a:avLst/>
          </a:prstGeom>
          <a:noFill/>
          <a:ln/>
        </p:spPr>
        <p:txBody>
          <a:bodyPr wrap="square" lIns="0" tIns="0" rIns="0" bIns="0" rtlCol="0" anchor="ctr"/>
          <a:lstStyle/>
          <a:p>
            <a:pPr marL="0" indent="0">
              <a:buNone/>
            </a:pPr>
            <a:r>
              <a:rPr lang="en-US" sz="1150" b="1" dirty="0">
                <a:solidFill>
                  <a:srgbClr val="1F2A33"/>
                </a:solidFill>
                <a:latin typeface="Courier New" pitchFamily="34" charset="0"/>
                <a:ea typeface="Courier New" pitchFamily="34" charset="-122"/>
                <a:cs typeface="Courier New" pitchFamily="34" charset="-120"/>
              </a:rPr>
              <a:t>hot vs layer</a:t>
            </a:r>
            <a:endParaRPr lang="en-US" sz="1150" dirty="0"/>
          </a:p>
        </p:txBody>
      </p:sp>
      <p:sp>
        <p:nvSpPr>
          <p:cNvPr id="39" name="Text 37"/>
          <p:cNvSpPr/>
          <p:nvPr/>
        </p:nvSpPr>
        <p:spPr>
          <a:xfrm>
            <a:off x="8183880" y="3639312"/>
            <a:ext cx="1691640" cy="365760"/>
          </a:xfrm>
          <a:prstGeom prst="rect">
            <a:avLst/>
          </a:prstGeom>
          <a:noFill/>
          <a:ln/>
        </p:spPr>
        <p:txBody>
          <a:bodyPr wrap="square" lIns="0" tIns="0" rIns="0" bIns="0" rtlCol="0" anchor="ctr"/>
          <a:lstStyle/>
          <a:p>
            <a:pPr marL="0" indent="0">
              <a:buNone/>
            </a:pPr>
            <a:r>
              <a:rPr lang="en-US" sz="1050" dirty="0">
                <a:solidFill>
                  <a:srgbClr val="0E7C86"/>
                </a:solidFill>
                <a:latin typeface="Courier New" pitchFamily="34" charset="0"/>
                <a:ea typeface="Courier New" pitchFamily="34" charset="-122"/>
                <a:cs typeface="Courier New" pitchFamily="34" charset="-120"/>
              </a:rPr>
              <a:t>rel_to_layer &gt; 2.0</a:t>
            </a:r>
            <a:endParaRPr lang="en-US" sz="1050" dirty="0"/>
          </a:p>
        </p:txBody>
      </p:sp>
      <p:sp>
        <p:nvSpPr>
          <p:cNvPr id="40" name="Text 38"/>
          <p:cNvSpPr/>
          <p:nvPr/>
        </p:nvSpPr>
        <p:spPr>
          <a:xfrm>
            <a:off x="10012680" y="3639312"/>
            <a:ext cx="1417320" cy="365760"/>
          </a:xfrm>
          <a:prstGeom prst="rect">
            <a:avLst/>
          </a:prstGeom>
          <a:noFill/>
          <a:ln/>
        </p:spPr>
        <p:txBody>
          <a:bodyPr wrap="square" lIns="0" tIns="0" rIns="0" bIns="0" rtlCol="0" anchor="ctr"/>
          <a:lstStyle/>
          <a:p>
            <a:pPr marL="0" indent="0">
              <a:buNone/>
            </a:pPr>
            <a:r>
              <a:rPr lang="en-US" sz="1000" dirty="0">
                <a:solidFill>
                  <a:srgbClr val="6B7A83"/>
                </a:solidFill>
                <a:latin typeface="Calibri" pitchFamily="34" charset="0"/>
                <a:ea typeface="Calibri" pitchFamily="34" charset="-122"/>
                <a:cs typeface="Calibri" pitchFamily="34" charset="-120"/>
              </a:rPr>
              <a:t>twice its neighbours</a:t>
            </a:r>
            <a:endParaRPr lang="en-US" sz="1000" dirty="0"/>
          </a:p>
        </p:txBody>
      </p:sp>
      <p:sp>
        <p:nvSpPr>
          <p:cNvPr id="41" name="Shape 39"/>
          <p:cNvSpPr/>
          <p:nvPr/>
        </p:nvSpPr>
        <p:spPr>
          <a:xfrm>
            <a:off x="6492240" y="4087368"/>
            <a:ext cx="5029200" cy="420624"/>
          </a:xfrm>
          <a:prstGeom prst="roundRect">
            <a:avLst>
              <a:gd name="adj" fmla="val 13043"/>
            </a:avLst>
          </a:prstGeom>
          <a:solidFill>
            <a:srgbClr val="F1F4F5"/>
          </a:solidFill>
          <a:ln w="9525">
            <a:solidFill>
              <a:srgbClr val="E2E7E9"/>
            </a:solidFill>
            <a:prstDash val="solid"/>
          </a:ln>
        </p:spPr>
        <p:txBody>
          <a:bodyPr/>
          <a:lstStyle/>
          <a:p>
            <a:endParaRPr lang="en-US"/>
          </a:p>
        </p:txBody>
      </p:sp>
      <p:sp>
        <p:nvSpPr>
          <p:cNvPr id="42" name="Shape 40"/>
          <p:cNvSpPr/>
          <p:nvPr/>
        </p:nvSpPr>
        <p:spPr>
          <a:xfrm>
            <a:off x="6629400" y="4233672"/>
            <a:ext cx="146304" cy="146304"/>
          </a:xfrm>
          <a:prstGeom prst="ellipse">
            <a:avLst/>
          </a:prstGeom>
          <a:solidFill>
            <a:srgbClr val="0E7C86"/>
          </a:solidFill>
          <a:ln/>
        </p:spPr>
        <p:txBody>
          <a:bodyPr/>
          <a:lstStyle/>
          <a:p>
            <a:endParaRPr lang="en-US"/>
          </a:p>
        </p:txBody>
      </p:sp>
      <p:sp>
        <p:nvSpPr>
          <p:cNvPr id="43" name="Text 41"/>
          <p:cNvSpPr/>
          <p:nvPr/>
        </p:nvSpPr>
        <p:spPr>
          <a:xfrm>
            <a:off x="6876288" y="4114800"/>
            <a:ext cx="1371600" cy="365760"/>
          </a:xfrm>
          <a:prstGeom prst="rect">
            <a:avLst/>
          </a:prstGeom>
          <a:noFill/>
          <a:ln/>
        </p:spPr>
        <p:txBody>
          <a:bodyPr wrap="square" lIns="0" tIns="0" rIns="0" bIns="0" rtlCol="0" anchor="ctr"/>
          <a:lstStyle/>
          <a:p>
            <a:pPr marL="0" indent="0">
              <a:buNone/>
            </a:pPr>
            <a:r>
              <a:rPr lang="en-US" sz="1150" b="1" dirty="0">
                <a:solidFill>
                  <a:srgbClr val="1F2A33"/>
                </a:solidFill>
                <a:latin typeface="Courier New" pitchFamily="34" charset="0"/>
                <a:ea typeface="Courier New" pitchFamily="34" charset="-122"/>
                <a:cs typeface="Courier New" pitchFamily="34" charset="-120"/>
              </a:rPr>
              <a:t>outlier</a:t>
            </a:r>
            <a:endParaRPr lang="en-US" sz="1150" dirty="0"/>
          </a:p>
        </p:txBody>
      </p:sp>
      <p:sp>
        <p:nvSpPr>
          <p:cNvPr id="44" name="Text 42"/>
          <p:cNvSpPr/>
          <p:nvPr/>
        </p:nvSpPr>
        <p:spPr>
          <a:xfrm>
            <a:off x="8183880" y="4114800"/>
            <a:ext cx="1691640" cy="365760"/>
          </a:xfrm>
          <a:prstGeom prst="rect">
            <a:avLst/>
          </a:prstGeom>
          <a:noFill/>
          <a:ln/>
        </p:spPr>
        <p:txBody>
          <a:bodyPr wrap="square" lIns="0" tIns="0" rIns="0" bIns="0" rtlCol="0" anchor="ctr"/>
          <a:lstStyle/>
          <a:p>
            <a:pPr marL="0" indent="0">
              <a:buNone/>
            </a:pPr>
            <a:r>
              <a:rPr lang="en-US" sz="1050" dirty="0">
                <a:solidFill>
                  <a:srgbClr val="0E7C86"/>
                </a:solidFill>
                <a:latin typeface="Courier New" pitchFamily="34" charset="0"/>
                <a:ea typeface="Courier New" pitchFamily="34" charset="-122"/>
                <a:cs typeface="Courier New" pitchFamily="34" charset="-120"/>
              </a:rPr>
              <a:t>25 % change</a:t>
            </a:r>
            <a:endParaRPr lang="en-US" sz="1050" dirty="0"/>
          </a:p>
        </p:txBody>
      </p:sp>
      <p:sp>
        <p:nvSpPr>
          <p:cNvPr id="45" name="Text 43"/>
          <p:cNvSpPr/>
          <p:nvPr/>
        </p:nvSpPr>
        <p:spPr>
          <a:xfrm>
            <a:off x="10012680" y="4114800"/>
            <a:ext cx="1417320" cy="365760"/>
          </a:xfrm>
          <a:prstGeom prst="rect">
            <a:avLst/>
          </a:prstGeom>
          <a:noFill/>
          <a:ln/>
        </p:spPr>
        <p:txBody>
          <a:bodyPr wrap="square" lIns="0" tIns="0" rIns="0" bIns="0" rtlCol="0" anchor="ctr"/>
          <a:lstStyle/>
          <a:p>
            <a:pPr marL="0" indent="0">
              <a:buNone/>
            </a:pPr>
            <a:r>
              <a:rPr lang="en-US" sz="1000" dirty="0">
                <a:solidFill>
                  <a:srgbClr val="6B7A83"/>
                </a:solidFill>
                <a:latin typeface="Calibri" pitchFamily="34" charset="0"/>
                <a:ea typeface="Calibri" pitchFamily="34" charset="-122"/>
                <a:cs typeface="Calibri" pitchFamily="34" charset="-120"/>
              </a:rPr>
              <a:t>vs the runs around it</a:t>
            </a:r>
            <a:endParaRPr lang="en-US" sz="1000" dirty="0"/>
          </a:p>
        </p:txBody>
      </p:sp>
      <p:sp>
        <p:nvSpPr>
          <p:cNvPr id="47" name="Shape 45"/>
          <p:cNvSpPr/>
          <p:nvPr/>
        </p:nvSpPr>
        <p:spPr>
          <a:xfrm>
            <a:off x="640080" y="5715000"/>
            <a:ext cx="10881360" cy="685800"/>
          </a:xfrm>
          <a:prstGeom prst="roundRect">
            <a:avLst>
              <a:gd name="adj" fmla="val 8000"/>
            </a:avLst>
          </a:prstGeom>
          <a:solidFill>
            <a:srgbClr val="1F2A33"/>
          </a:solidFill>
          <a:ln w="9525">
            <a:solidFill>
              <a:srgbClr val="E2E7E9"/>
            </a:solidFill>
            <a:prstDash val="solid"/>
          </a:ln>
        </p:spPr>
        <p:txBody>
          <a:bodyPr/>
          <a:lstStyle/>
          <a:p>
            <a:endParaRPr lang="en-US"/>
          </a:p>
        </p:txBody>
      </p:sp>
      <p:sp>
        <p:nvSpPr>
          <p:cNvPr id="48" name="Text 46"/>
          <p:cNvSpPr/>
          <p:nvPr/>
        </p:nvSpPr>
        <p:spPr>
          <a:xfrm>
            <a:off x="960120" y="5715000"/>
            <a:ext cx="10241280" cy="685800"/>
          </a:xfrm>
          <a:prstGeom prst="rect">
            <a:avLst/>
          </a:prstGeom>
          <a:noFill/>
          <a:ln/>
        </p:spPr>
        <p:txBody>
          <a:bodyPr wrap="square" rtlCol="0" anchor="ctr"/>
          <a:lstStyle/>
          <a:p>
            <a:pPr marL="0" indent="0">
              <a:buNone/>
            </a:pPr>
            <a:r>
              <a:rPr lang="en-US" sz="1200" dirty="0">
                <a:solidFill>
                  <a:srgbClr val="B9C6CC"/>
                </a:solidFill>
                <a:latin typeface="Calibri" pitchFamily="34" charset="0"/>
                <a:ea typeface="Calibri" pitchFamily="34" charset="-122"/>
                <a:cs typeface="Calibri" pitchFamily="34" charset="-120"/>
              </a:rPr>
              <a:t>Channels that come within 30 % of a cut without firing are listed separately — a threshold is a line drawn through a continuum.</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C9F9564-D8EC-EA4D-216D-35F7B53324F6}"/>
              </a:ext>
            </a:extLst>
          </p:cNvPr>
          <p:cNvSpPr txBox="1"/>
          <p:nvPr/>
        </p:nvSpPr>
        <p:spPr>
          <a:xfrm>
            <a:off x="330200" y="259605"/>
            <a:ext cx="10711522" cy="954107"/>
          </a:xfrm>
          <a:prstGeom prst="rect">
            <a:avLst/>
          </a:prstGeom>
          <a:noFill/>
        </p:spPr>
        <p:txBody>
          <a:bodyPr wrap="none" rtlCol="0">
            <a:spAutoFit/>
          </a:bodyPr>
          <a:lstStyle/>
          <a:p>
            <a:r>
              <a:rPr lang="en-US" sz="2800" dirty="0"/>
              <a:t>Let’s test it. </a:t>
            </a:r>
          </a:p>
          <a:p>
            <a:r>
              <a:rPr lang="en-US" sz="2800" dirty="0"/>
              <a:t>Raphael Dupre picked a random run and circled the bad/dead channels. </a:t>
            </a:r>
          </a:p>
        </p:txBody>
      </p:sp>
      <p:pic>
        <p:nvPicPr>
          <p:cNvPr id="4" name="Picture 3">
            <a:extLst>
              <a:ext uri="{FF2B5EF4-FFF2-40B4-BE49-F238E27FC236}">
                <a16:creationId xmlns:a16="http://schemas.microsoft.com/office/drawing/2014/main" id="{BFF7D727-6465-EBAB-4D28-E60B5FA4EA43}"/>
              </a:ext>
            </a:extLst>
          </p:cNvPr>
          <p:cNvPicPr>
            <a:picLocks noChangeAspect="1"/>
          </p:cNvPicPr>
          <p:nvPr/>
        </p:nvPicPr>
        <p:blipFill>
          <a:blip r:embed="rId2"/>
          <a:stretch>
            <a:fillRect/>
          </a:stretch>
        </p:blipFill>
        <p:spPr>
          <a:xfrm>
            <a:off x="2560655" y="1486165"/>
            <a:ext cx="6250611" cy="4591530"/>
          </a:xfrm>
          <a:prstGeom prst="rect">
            <a:avLst/>
          </a:prstGeom>
        </p:spPr>
      </p:pic>
    </p:spTree>
    <p:extLst>
      <p:ext uri="{BB962C8B-B14F-4D97-AF65-F5344CB8AC3E}">
        <p14:creationId xmlns:p14="http://schemas.microsoft.com/office/powerpoint/2010/main" val="26807680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384048"/>
            <a:ext cx="10058400" cy="256032"/>
          </a:xfrm>
          <a:prstGeom prst="rect">
            <a:avLst/>
          </a:prstGeom>
          <a:noFill/>
          <a:ln/>
        </p:spPr>
        <p:txBody>
          <a:bodyPr wrap="square" rtlCol="0" anchor="ctr"/>
          <a:lstStyle/>
          <a:p>
            <a:pPr marL="0" indent="0">
              <a:buNone/>
            </a:pPr>
            <a:r>
              <a:rPr lang="en-US" sz="1200" b="1" kern="0" spc="200" dirty="0">
                <a:solidFill>
                  <a:srgbClr val="0E7C86"/>
                </a:solidFill>
                <a:latin typeface="Arial" pitchFamily="34" charset="0"/>
                <a:ea typeface="Arial" pitchFamily="34" charset="-122"/>
                <a:cs typeface="Arial" pitchFamily="34" charset="-120"/>
              </a:rPr>
              <a:t>WALK-THROUGH</a:t>
            </a:r>
            <a:endParaRPr lang="en-US" sz="1200" dirty="0"/>
          </a:p>
        </p:txBody>
      </p:sp>
      <p:sp>
        <p:nvSpPr>
          <p:cNvPr id="3" name="Text 1"/>
          <p:cNvSpPr/>
          <p:nvPr/>
        </p:nvSpPr>
        <p:spPr>
          <a:xfrm>
            <a:off x="640080" y="658368"/>
            <a:ext cx="10972800" cy="566928"/>
          </a:xfrm>
          <a:prstGeom prst="rect">
            <a:avLst/>
          </a:prstGeom>
          <a:noFill/>
          <a:ln/>
        </p:spPr>
        <p:txBody>
          <a:bodyPr wrap="square" rtlCol="0" anchor="ctr"/>
          <a:lstStyle/>
          <a:p>
            <a:pPr marL="0" indent="0">
              <a:buNone/>
            </a:pPr>
            <a:r>
              <a:rPr lang="en-US" sz="3000" b="1" dirty="0">
                <a:solidFill>
                  <a:srgbClr val="1F2A33"/>
                </a:solidFill>
                <a:latin typeface="Cambria" pitchFamily="34" charset="0"/>
                <a:ea typeface="Cambria" pitchFamily="34" charset="-122"/>
                <a:cs typeface="Cambria" pitchFamily="34" charset="-120"/>
              </a:rPr>
              <a:t>One run: 22603, 13 bad of 576</a:t>
            </a:r>
            <a:endParaRPr lang="en-US" sz="3000" dirty="0"/>
          </a:p>
        </p:txBody>
      </p:sp>
      <p:pic>
        <p:nvPicPr>
          <p:cNvPr id="4" name="Image 0" descr="/sessions/amazing-upbeat-pasteur/mnt/deadChannel-ALERT-CLAS12/examples/run22603_map.png"/>
          <p:cNvPicPr>
            <a:picLocks noChangeAspect="1"/>
          </p:cNvPicPr>
          <p:nvPr/>
        </p:nvPicPr>
        <p:blipFill>
          <a:blip r:embed="rId3"/>
          <a:stretch>
            <a:fillRect/>
          </a:stretch>
        </p:blipFill>
        <p:spPr>
          <a:xfrm>
            <a:off x="640080" y="1371600"/>
            <a:ext cx="7223760" cy="3611880"/>
          </a:xfrm>
          <a:prstGeom prst="rect">
            <a:avLst/>
          </a:prstGeom>
        </p:spPr>
      </p:pic>
      <p:sp>
        <p:nvSpPr>
          <p:cNvPr id="5" name="Text 2"/>
          <p:cNvSpPr/>
          <p:nvPr/>
        </p:nvSpPr>
        <p:spPr>
          <a:xfrm>
            <a:off x="640080" y="5029200"/>
            <a:ext cx="7223760" cy="548640"/>
          </a:xfrm>
          <a:prstGeom prst="rect">
            <a:avLst/>
          </a:prstGeom>
          <a:noFill/>
          <a:ln/>
        </p:spPr>
        <p:txBody>
          <a:bodyPr wrap="square" rtlCol="0" anchor="ctr"/>
          <a:lstStyle/>
          <a:p>
            <a:pPr marL="0" indent="0">
              <a:buNone/>
            </a:pPr>
            <a:r>
              <a:rPr lang="en-US" sz="1100" dirty="0">
                <a:solidFill>
                  <a:srgbClr val="6B7A83"/>
                </a:solidFill>
                <a:latin typeface="Calibri" pitchFamily="34" charset="0"/>
                <a:ea typeface="Calibri" pitchFamily="34" charset="-122"/>
                <a:cs typeface="Calibri" pitchFamily="34" charset="-120"/>
              </a:rPr>
              <a:t>Top: raw value, log scale, grey where the wire does not exist.  Bottom: cv, white at 1 — magenta rings are bad vs their own norm, black dashed vs their layer.</a:t>
            </a:r>
            <a:endParaRPr lang="en-US" sz="1100" dirty="0"/>
          </a:p>
        </p:txBody>
      </p:sp>
      <p:sp>
        <p:nvSpPr>
          <p:cNvPr id="6" name="Text 3"/>
          <p:cNvSpPr/>
          <p:nvPr/>
        </p:nvSpPr>
        <p:spPr>
          <a:xfrm>
            <a:off x="7818120" y="1371600"/>
            <a:ext cx="777240" cy="402336"/>
          </a:xfrm>
          <a:prstGeom prst="rect">
            <a:avLst/>
          </a:prstGeom>
          <a:noFill/>
          <a:ln/>
        </p:spPr>
        <p:txBody>
          <a:bodyPr wrap="square" lIns="0" tIns="0" rIns="0" bIns="0" rtlCol="0" anchor="ctr"/>
          <a:lstStyle/>
          <a:p>
            <a:pPr marL="0" indent="0">
              <a:buNone/>
            </a:pPr>
            <a:r>
              <a:rPr lang="en-US" sz="900" b="1" dirty="0">
                <a:solidFill>
                  <a:srgbClr val="6B7A83"/>
                </a:solidFill>
                <a:latin typeface="Calibri" pitchFamily="34" charset="0"/>
                <a:ea typeface="Calibri" pitchFamily="34" charset="-122"/>
                <a:cs typeface="Calibri" pitchFamily="34" charset="-120"/>
              </a:rPr>
              <a:t>channel</a:t>
            </a:r>
            <a:endParaRPr lang="en-US" sz="900" dirty="0"/>
          </a:p>
        </p:txBody>
      </p:sp>
      <p:sp>
        <p:nvSpPr>
          <p:cNvPr id="7" name="Text 4"/>
          <p:cNvSpPr/>
          <p:nvPr/>
        </p:nvSpPr>
        <p:spPr>
          <a:xfrm>
            <a:off x="8613648" y="1371600"/>
            <a:ext cx="731520" cy="402336"/>
          </a:xfrm>
          <a:prstGeom prst="rect">
            <a:avLst/>
          </a:prstGeom>
          <a:noFill/>
          <a:ln/>
        </p:spPr>
        <p:txBody>
          <a:bodyPr wrap="square" lIns="0" tIns="0" rIns="0" bIns="0" rtlCol="0" anchor="ctr"/>
          <a:lstStyle/>
          <a:p>
            <a:pPr marL="0" indent="0">
              <a:buNone/>
            </a:pPr>
            <a:r>
              <a:rPr lang="en-US" sz="900" b="1" dirty="0">
                <a:solidFill>
                  <a:srgbClr val="6B7A83"/>
                </a:solidFill>
                <a:latin typeface="Calibri" pitchFamily="34" charset="0"/>
                <a:ea typeface="Calibri" pitchFamily="34" charset="-122"/>
                <a:cs typeface="Calibri" pitchFamily="34" charset="-120"/>
              </a:rPr>
              <a:t>r/layer</a:t>
            </a:r>
            <a:endParaRPr lang="en-US" sz="900" dirty="0"/>
          </a:p>
        </p:txBody>
      </p:sp>
      <p:sp>
        <p:nvSpPr>
          <p:cNvPr id="8" name="Text 5"/>
          <p:cNvSpPr/>
          <p:nvPr/>
        </p:nvSpPr>
        <p:spPr>
          <a:xfrm>
            <a:off x="9363456" y="1371600"/>
            <a:ext cx="566928" cy="402336"/>
          </a:xfrm>
          <a:prstGeom prst="rect">
            <a:avLst/>
          </a:prstGeom>
          <a:noFill/>
          <a:ln/>
        </p:spPr>
        <p:txBody>
          <a:bodyPr wrap="square" lIns="0" tIns="0" rIns="0" bIns="0" rtlCol="0" anchor="ctr"/>
          <a:lstStyle/>
          <a:p>
            <a:pPr marL="0" indent="0">
              <a:buNone/>
            </a:pPr>
            <a:r>
              <a:rPr lang="en-US" sz="900" b="1" dirty="0">
                <a:solidFill>
                  <a:srgbClr val="6B7A83"/>
                </a:solidFill>
                <a:latin typeface="Calibri" pitchFamily="34" charset="0"/>
                <a:ea typeface="Calibri" pitchFamily="34" charset="-122"/>
                <a:cs typeface="Calibri" pitchFamily="34" charset="-120"/>
              </a:rPr>
              <a:t>own</a:t>
            </a:r>
            <a:endParaRPr lang="en-US" sz="900" dirty="0"/>
          </a:p>
        </p:txBody>
      </p:sp>
      <p:sp>
        <p:nvSpPr>
          <p:cNvPr id="9" name="Text 6"/>
          <p:cNvSpPr/>
          <p:nvPr/>
        </p:nvSpPr>
        <p:spPr>
          <a:xfrm>
            <a:off x="9966960" y="1371600"/>
            <a:ext cx="502920" cy="402336"/>
          </a:xfrm>
          <a:prstGeom prst="rect">
            <a:avLst/>
          </a:prstGeom>
          <a:noFill/>
          <a:ln/>
        </p:spPr>
        <p:txBody>
          <a:bodyPr wrap="square" lIns="0" tIns="0" rIns="0" bIns="0" rtlCol="0" anchor="ctr"/>
          <a:lstStyle/>
          <a:p>
            <a:pPr marL="0" indent="0">
              <a:buNone/>
            </a:pPr>
            <a:r>
              <a:rPr lang="en-US" sz="900" b="1" dirty="0">
                <a:solidFill>
                  <a:srgbClr val="6B7A83"/>
                </a:solidFill>
                <a:latin typeface="Calibri" pitchFamily="34" charset="0"/>
                <a:ea typeface="Calibri" pitchFamily="34" charset="-122"/>
                <a:cs typeface="Calibri" pitchFamily="34" charset="-120"/>
              </a:rPr>
              <a:t>cv</a:t>
            </a:r>
            <a:endParaRPr lang="en-US" sz="900" dirty="0"/>
          </a:p>
        </p:txBody>
      </p:sp>
      <p:sp>
        <p:nvSpPr>
          <p:cNvPr id="10" name="Text 7"/>
          <p:cNvSpPr/>
          <p:nvPr/>
        </p:nvSpPr>
        <p:spPr>
          <a:xfrm>
            <a:off x="10515600" y="1371600"/>
            <a:ext cx="1051560" cy="402336"/>
          </a:xfrm>
          <a:prstGeom prst="rect">
            <a:avLst/>
          </a:prstGeom>
          <a:noFill/>
          <a:ln/>
        </p:spPr>
        <p:txBody>
          <a:bodyPr wrap="square" lIns="0" tIns="0" rIns="0" bIns="0" rtlCol="0" anchor="ctr"/>
          <a:lstStyle/>
          <a:p>
            <a:pPr marL="0" indent="0">
              <a:buNone/>
            </a:pPr>
            <a:r>
              <a:rPr lang="en-US" sz="900" b="1" dirty="0">
                <a:solidFill>
                  <a:srgbClr val="6B7A83"/>
                </a:solidFill>
                <a:latin typeface="Calibri" pitchFamily="34" charset="0"/>
                <a:ea typeface="Calibri" pitchFamily="34" charset="-122"/>
                <a:cs typeface="Calibri" pitchFamily="34" charset="-120"/>
              </a:rPr>
              <a:t>verdict</a:t>
            </a:r>
            <a:endParaRPr lang="en-US" sz="900" dirty="0"/>
          </a:p>
        </p:txBody>
      </p:sp>
      <p:sp>
        <p:nvSpPr>
          <p:cNvPr id="11" name="Shape 8"/>
          <p:cNvSpPr/>
          <p:nvPr/>
        </p:nvSpPr>
        <p:spPr>
          <a:xfrm>
            <a:off x="7680960" y="1737360"/>
            <a:ext cx="3931920" cy="402336"/>
          </a:xfrm>
          <a:prstGeom prst="roundRect">
            <a:avLst>
              <a:gd name="adj" fmla="val 13636"/>
            </a:avLst>
          </a:prstGeom>
          <a:solidFill>
            <a:srgbClr val="F1F4F5"/>
          </a:solidFill>
          <a:ln w="9525">
            <a:solidFill>
              <a:srgbClr val="E2E7E9"/>
            </a:solidFill>
            <a:prstDash val="solid"/>
          </a:ln>
        </p:spPr>
        <p:txBody>
          <a:bodyPr/>
          <a:lstStyle/>
          <a:p>
            <a:endParaRPr lang="en-US"/>
          </a:p>
        </p:txBody>
      </p:sp>
      <p:sp>
        <p:nvSpPr>
          <p:cNvPr id="12" name="Text 9"/>
          <p:cNvSpPr/>
          <p:nvPr/>
        </p:nvSpPr>
        <p:spPr>
          <a:xfrm>
            <a:off x="7818120" y="1737360"/>
            <a:ext cx="777240" cy="402336"/>
          </a:xfrm>
          <a:prstGeom prst="rect">
            <a:avLst/>
          </a:prstGeom>
          <a:noFill/>
          <a:ln/>
        </p:spPr>
        <p:txBody>
          <a:bodyPr wrap="square" lIns="0" tIns="0" rIns="0" bIns="0" rtlCol="0" anchor="ctr"/>
          <a:lstStyle/>
          <a:p>
            <a:pPr marL="0" indent="0">
              <a:buNone/>
            </a:pPr>
            <a:r>
              <a:rPr lang="en-US" sz="1100" dirty="0">
                <a:solidFill>
                  <a:srgbClr val="1F2A33"/>
                </a:solidFill>
                <a:latin typeface="Courier New" pitchFamily="34" charset="0"/>
                <a:ea typeface="Courier New" pitchFamily="34" charset="-122"/>
                <a:cs typeface="Courier New" pitchFamily="34" charset="-120"/>
              </a:rPr>
              <a:t>L1 W1</a:t>
            </a:r>
            <a:endParaRPr lang="en-US" sz="1100" dirty="0"/>
          </a:p>
        </p:txBody>
      </p:sp>
      <p:sp>
        <p:nvSpPr>
          <p:cNvPr id="13" name="Text 10"/>
          <p:cNvSpPr/>
          <p:nvPr/>
        </p:nvSpPr>
        <p:spPr>
          <a:xfrm>
            <a:off x="8613648" y="1737360"/>
            <a:ext cx="731520" cy="402336"/>
          </a:xfrm>
          <a:prstGeom prst="rect">
            <a:avLst/>
          </a:prstGeom>
          <a:noFill/>
          <a:ln/>
        </p:spPr>
        <p:txBody>
          <a:bodyPr wrap="square" lIns="0" tIns="0" rIns="0" bIns="0" rtlCol="0" anchor="ctr"/>
          <a:lstStyle/>
          <a:p>
            <a:pPr marL="0" indent="0">
              <a:buNone/>
            </a:pPr>
            <a:r>
              <a:rPr lang="en-US" sz="1100" dirty="0">
                <a:solidFill>
                  <a:srgbClr val="1F2A33"/>
                </a:solidFill>
                <a:latin typeface="Courier New" pitchFamily="34" charset="0"/>
                <a:ea typeface="Courier New" pitchFamily="34" charset="-122"/>
                <a:cs typeface="Courier New" pitchFamily="34" charset="-120"/>
              </a:rPr>
              <a:t>0.97</a:t>
            </a:r>
            <a:endParaRPr lang="en-US" sz="1100" dirty="0"/>
          </a:p>
        </p:txBody>
      </p:sp>
      <p:sp>
        <p:nvSpPr>
          <p:cNvPr id="14" name="Text 11"/>
          <p:cNvSpPr/>
          <p:nvPr/>
        </p:nvSpPr>
        <p:spPr>
          <a:xfrm>
            <a:off x="9363456" y="1737360"/>
            <a:ext cx="566928" cy="402336"/>
          </a:xfrm>
          <a:prstGeom prst="rect">
            <a:avLst/>
          </a:prstGeom>
          <a:noFill/>
          <a:ln/>
        </p:spPr>
        <p:txBody>
          <a:bodyPr wrap="square" lIns="0" tIns="0" rIns="0" bIns="0" rtlCol="0" anchor="ctr"/>
          <a:lstStyle/>
          <a:p>
            <a:pPr marL="0" indent="0">
              <a:buNone/>
            </a:pPr>
            <a:r>
              <a:rPr lang="en-US" sz="1100" dirty="0">
                <a:solidFill>
                  <a:srgbClr val="1F2A33"/>
                </a:solidFill>
                <a:latin typeface="Courier New" pitchFamily="34" charset="0"/>
                <a:ea typeface="Courier New" pitchFamily="34" charset="-122"/>
                <a:cs typeface="Courier New" pitchFamily="34" charset="-120"/>
              </a:rPr>
              <a:t>0.99</a:t>
            </a:r>
            <a:endParaRPr lang="en-US" sz="1100" dirty="0"/>
          </a:p>
        </p:txBody>
      </p:sp>
      <p:sp>
        <p:nvSpPr>
          <p:cNvPr id="15" name="Text 12"/>
          <p:cNvSpPr/>
          <p:nvPr/>
        </p:nvSpPr>
        <p:spPr>
          <a:xfrm>
            <a:off x="9966960" y="1737360"/>
            <a:ext cx="502920" cy="402336"/>
          </a:xfrm>
          <a:prstGeom prst="rect">
            <a:avLst/>
          </a:prstGeom>
          <a:noFill/>
          <a:ln/>
        </p:spPr>
        <p:txBody>
          <a:bodyPr wrap="square" lIns="0" tIns="0" rIns="0" bIns="0" rtlCol="0" anchor="ctr"/>
          <a:lstStyle/>
          <a:p>
            <a:pPr marL="0" indent="0">
              <a:buNone/>
            </a:pPr>
            <a:r>
              <a:rPr lang="en-US" sz="1100" dirty="0">
                <a:solidFill>
                  <a:srgbClr val="1F2A33"/>
                </a:solidFill>
                <a:latin typeface="Courier New" pitchFamily="34" charset="0"/>
                <a:ea typeface="Courier New" pitchFamily="34" charset="-122"/>
                <a:cs typeface="Courier New" pitchFamily="34" charset="-120"/>
              </a:rPr>
              <a:t>0.98</a:t>
            </a:r>
            <a:endParaRPr lang="en-US" sz="1100" dirty="0"/>
          </a:p>
        </p:txBody>
      </p:sp>
      <p:sp>
        <p:nvSpPr>
          <p:cNvPr id="16" name="Text 13"/>
          <p:cNvSpPr/>
          <p:nvPr/>
        </p:nvSpPr>
        <p:spPr>
          <a:xfrm>
            <a:off x="10515600" y="1737360"/>
            <a:ext cx="1051560" cy="402336"/>
          </a:xfrm>
          <a:prstGeom prst="rect">
            <a:avLst/>
          </a:prstGeom>
          <a:noFill/>
          <a:ln/>
        </p:spPr>
        <p:txBody>
          <a:bodyPr wrap="square" lIns="0" tIns="0" rIns="0" bIns="0" rtlCol="0" anchor="ctr"/>
          <a:lstStyle/>
          <a:p>
            <a:pPr marL="0" indent="0">
              <a:buNone/>
            </a:pPr>
            <a:r>
              <a:rPr lang="en-US" sz="1000" dirty="0">
                <a:solidFill>
                  <a:srgbClr val="1F2A33"/>
                </a:solidFill>
                <a:latin typeface="Calibri" pitchFamily="34" charset="0"/>
                <a:ea typeface="Calibri" pitchFamily="34" charset="-122"/>
                <a:cs typeface="Calibri" pitchFamily="34" charset="-120"/>
              </a:rPr>
              <a:t>—</a:t>
            </a:r>
            <a:endParaRPr lang="en-US" sz="1000" dirty="0"/>
          </a:p>
        </p:txBody>
      </p:sp>
      <p:sp>
        <p:nvSpPr>
          <p:cNvPr id="17" name="Text 14"/>
          <p:cNvSpPr/>
          <p:nvPr/>
        </p:nvSpPr>
        <p:spPr>
          <a:xfrm>
            <a:off x="7818120" y="2139696"/>
            <a:ext cx="777240" cy="402336"/>
          </a:xfrm>
          <a:prstGeom prst="rect">
            <a:avLst/>
          </a:prstGeom>
          <a:noFill/>
          <a:ln/>
        </p:spPr>
        <p:txBody>
          <a:bodyPr wrap="square" lIns="0" tIns="0" rIns="0" bIns="0" rtlCol="0" anchor="ctr"/>
          <a:lstStyle/>
          <a:p>
            <a:pPr marL="0" indent="0">
              <a:buNone/>
            </a:pPr>
            <a:r>
              <a:rPr lang="en-US" sz="1100" dirty="0">
                <a:solidFill>
                  <a:srgbClr val="1F2A33"/>
                </a:solidFill>
                <a:latin typeface="Courier New" pitchFamily="34" charset="0"/>
                <a:ea typeface="Courier New" pitchFamily="34" charset="-122"/>
                <a:cs typeface="Courier New" pitchFamily="34" charset="-120"/>
              </a:rPr>
              <a:t>L1 W19</a:t>
            </a:r>
            <a:endParaRPr lang="en-US" sz="1100" dirty="0"/>
          </a:p>
        </p:txBody>
      </p:sp>
      <p:sp>
        <p:nvSpPr>
          <p:cNvPr id="18" name="Text 15"/>
          <p:cNvSpPr/>
          <p:nvPr/>
        </p:nvSpPr>
        <p:spPr>
          <a:xfrm>
            <a:off x="8613648" y="2139696"/>
            <a:ext cx="731520" cy="402336"/>
          </a:xfrm>
          <a:prstGeom prst="rect">
            <a:avLst/>
          </a:prstGeom>
          <a:noFill/>
          <a:ln/>
        </p:spPr>
        <p:txBody>
          <a:bodyPr wrap="square" lIns="0" tIns="0" rIns="0" bIns="0" rtlCol="0" anchor="ctr"/>
          <a:lstStyle/>
          <a:p>
            <a:pPr marL="0" indent="0">
              <a:buNone/>
            </a:pPr>
            <a:r>
              <a:rPr lang="en-US" sz="1100" dirty="0">
                <a:solidFill>
                  <a:srgbClr val="1F2A33"/>
                </a:solidFill>
                <a:latin typeface="Courier New" pitchFamily="34" charset="0"/>
                <a:ea typeface="Courier New" pitchFamily="34" charset="-122"/>
                <a:cs typeface="Courier New" pitchFamily="34" charset="-120"/>
              </a:rPr>
              <a:t>0.26</a:t>
            </a:r>
            <a:endParaRPr lang="en-US" sz="1100" dirty="0"/>
          </a:p>
        </p:txBody>
      </p:sp>
      <p:sp>
        <p:nvSpPr>
          <p:cNvPr id="19" name="Text 16"/>
          <p:cNvSpPr/>
          <p:nvPr/>
        </p:nvSpPr>
        <p:spPr>
          <a:xfrm>
            <a:off x="9363456" y="2139696"/>
            <a:ext cx="566928" cy="402336"/>
          </a:xfrm>
          <a:prstGeom prst="rect">
            <a:avLst/>
          </a:prstGeom>
          <a:noFill/>
          <a:ln/>
        </p:spPr>
        <p:txBody>
          <a:bodyPr wrap="square" lIns="0" tIns="0" rIns="0" bIns="0" rtlCol="0" anchor="ctr"/>
          <a:lstStyle/>
          <a:p>
            <a:pPr marL="0" indent="0">
              <a:buNone/>
            </a:pPr>
            <a:r>
              <a:rPr lang="en-US" sz="1100" dirty="0">
                <a:solidFill>
                  <a:srgbClr val="1F2A33"/>
                </a:solidFill>
                <a:latin typeface="Courier New" pitchFamily="34" charset="0"/>
                <a:ea typeface="Courier New" pitchFamily="34" charset="-122"/>
                <a:cs typeface="Courier New" pitchFamily="34" charset="-120"/>
              </a:rPr>
              <a:t>1.03</a:t>
            </a:r>
            <a:endParaRPr lang="en-US" sz="1100" dirty="0"/>
          </a:p>
        </p:txBody>
      </p:sp>
      <p:sp>
        <p:nvSpPr>
          <p:cNvPr id="20" name="Text 17"/>
          <p:cNvSpPr/>
          <p:nvPr/>
        </p:nvSpPr>
        <p:spPr>
          <a:xfrm>
            <a:off x="9966960" y="2139696"/>
            <a:ext cx="502920" cy="402336"/>
          </a:xfrm>
          <a:prstGeom prst="rect">
            <a:avLst/>
          </a:prstGeom>
          <a:noFill/>
          <a:ln/>
        </p:spPr>
        <p:txBody>
          <a:bodyPr wrap="square" lIns="0" tIns="0" rIns="0" bIns="0" rtlCol="0" anchor="ctr"/>
          <a:lstStyle/>
          <a:p>
            <a:pPr marL="0" indent="0">
              <a:buNone/>
            </a:pPr>
            <a:r>
              <a:rPr lang="en-US" sz="1100" dirty="0">
                <a:solidFill>
                  <a:srgbClr val="1F2A33"/>
                </a:solidFill>
                <a:latin typeface="Courier New" pitchFamily="34" charset="0"/>
                <a:ea typeface="Courier New" pitchFamily="34" charset="-122"/>
                <a:cs typeface="Courier New" pitchFamily="34" charset="-120"/>
              </a:rPr>
              <a:t>0.26</a:t>
            </a:r>
            <a:endParaRPr lang="en-US" sz="1100" dirty="0"/>
          </a:p>
        </p:txBody>
      </p:sp>
      <p:sp>
        <p:nvSpPr>
          <p:cNvPr id="21" name="Text 18"/>
          <p:cNvSpPr/>
          <p:nvPr/>
        </p:nvSpPr>
        <p:spPr>
          <a:xfrm>
            <a:off x="10515600" y="2139696"/>
            <a:ext cx="1051560" cy="402336"/>
          </a:xfrm>
          <a:prstGeom prst="rect">
            <a:avLst/>
          </a:prstGeom>
          <a:noFill/>
          <a:ln/>
        </p:spPr>
        <p:txBody>
          <a:bodyPr wrap="square" lIns="0" tIns="0" rIns="0" bIns="0" rtlCol="0" anchor="ctr"/>
          <a:lstStyle/>
          <a:p>
            <a:pPr marL="0" indent="0">
              <a:buNone/>
            </a:pPr>
            <a:r>
              <a:rPr lang="en-US" sz="1000" dirty="0">
                <a:solidFill>
                  <a:srgbClr val="C1553B"/>
                </a:solidFill>
                <a:latin typeface="Calibri" pitchFamily="34" charset="0"/>
                <a:ea typeface="Calibri" pitchFamily="34" charset="-122"/>
                <a:cs typeface="Calibri" pitchFamily="34" charset="-120"/>
              </a:rPr>
              <a:t>low/dead</a:t>
            </a:r>
            <a:endParaRPr lang="en-US" sz="1000" dirty="0"/>
          </a:p>
        </p:txBody>
      </p:sp>
      <p:sp>
        <p:nvSpPr>
          <p:cNvPr id="22" name="Shape 19"/>
          <p:cNvSpPr/>
          <p:nvPr/>
        </p:nvSpPr>
        <p:spPr>
          <a:xfrm>
            <a:off x="7680960" y="2542032"/>
            <a:ext cx="3931920" cy="402336"/>
          </a:xfrm>
          <a:prstGeom prst="roundRect">
            <a:avLst>
              <a:gd name="adj" fmla="val 13636"/>
            </a:avLst>
          </a:prstGeom>
          <a:solidFill>
            <a:srgbClr val="F1F4F5"/>
          </a:solidFill>
          <a:ln w="9525">
            <a:solidFill>
              <a:srgbClr val="E2E7E9"/>
            </a:solidFill>
            <a:prstDash val="solid"/>
          </a:ln>
        </p:spPr>
        <p:txBody>
          <a:bodyPr/>
          <a:lstStyle/>
          <a:p>
            <a:endParaRPr lang="en-US"/>
          </a:p>
        </p:txBody>
      </p:sp>
      <p:sp>
        <p:nvSpPr>
          <p:cNvPr id="23" name="Text 20"/>
          <p:cNvSpPr/>
          <p:nvPr/>
        </p:nvSpPr>
        <p:spPr>
          <a:xfrm>
            <a:off x="7818120" y="2542032"/>
            <a:ext cx="777240" cy="402336"/>
          </a:xfrm>
          <a:prstGeom prst="rect">
            <a:avLst/>
          </a:prstGeom>
          <a:noFill/>
          <a:ln/>
        </p:spPr>
        <p:txBody>
          <a:bodyPr wrap="square" lIns="0" tIns="0" rIns="0" bIns="0" rtlCol="0" anchor="ctr"/>
          <a:lstStyle/>
          <a:p>
            <a:pPr marL="0" indent="0">
              <a:buNone/>
            </a:pPr>
            <a:r>
              <a:rPr lang="en-US" sz="1100" dirty="0">
                <a:solidFill>
                  <a:srgbClr val="1F2A33"/>
                </a:solidFill>
                <a:latin typeface="Courier New" pitchFamily="34" charset="0"/>
                <a:ea typeface="Courier New" pitchFamily="34" charset="-122"/>
                <a:cs typeface="Courier New" pitchFamily="34" charset="-120"/>
              </a:rPr>
              <a:t>L1 W46</a:t>
            </a:r>
            <a:endParaRPr lang="en-US" sz="1100" dirty="0"/>
          </a:p>
        </p:txBody>
      </p:sp>
      <p:sp>
        <p:nvSpPr>
          <p:cNvPr id="24" name="Text 21"/>
          <p:cNvSpPr/>
          <p:nvPr/>
        </p:nvSpPr>
        <p:spPr>
          <a:xfrm>
            <a:off x="8613648" y="2542032"/>
            <a:ext cx="731520" cy="402336"/>
          </a:xfrm>
          <a:prstGeom prst="rect">
            <a:avLst/>
          </a:prstGeom>
          <a:noFill/>
          <a:ln/>
        </p:spPr>
        <p:txBody>
          <a:bodyPr wrap="square" lIns="0" tIns="0" rIns="0" bIns="0" rtlCol="0" anchor="ctr"/>
          <a:lstStyle/>
          <a:p>
            <a:pPr marL="0" indent="0">
              <a:buNone/>
            </a:pPr>
            <a:r>
              <a:rPr lang="en-US" sz="1100" dirty="0">
                <a:solidFill>
                  <a:srgbClr val="1F2A33"/>
                </a:solidFill>
                <a:latin typeface="Courier New" pitchFamily="34" charset="0"/>
                <a:ea typeface="Courier New" pitchFamily="34" charset="-122"/>
                <a:cs typeface="Courier New" pitchFamily="34" charset="-120"/>
              </a:rPr>
              <a:t>0.23</a:t>
            </a:r>
            <a:endParaRPr lang="en-US" sz="1100" dirty="0"/>
          </a:p>
        </p:txBody>
      </p:sp>
      <p:sp>
        <p:nvSpPr>
          <p:cNvPr id="25" name="Text 22"/>
          <p:cNvSpPr/>
          <p:nvPr/>
        </p:nvSpPr>
        <p:spPr>
          <a:xfrm>
            <a:off x="9363456" y="2542032"/>
            <a:ext cx="566928" cy="402336"/>
          </a:xfrm>
          <a:prstGeom prst="rect">
            <a:avLst/>
          </a:prstGeom>
          <a:noFill/>
          <a:ln/>
        </p:spPr>
        <p:txBody>
          <a:bodyPr wrap="square" lIns="0" tIns="0" rIns="0" bIns="0" rtlCol="0" anchor="ctr"/>
          <a:lstStyle/>
          <a:p>
            <a:pPr marL="0" indent="0">
              <a:buNone/>
            </a:pPr>
            <a:r>
              <a:rPr lang="en-US" sz="1100" dirty="0">
                <a:solidFill>
                  <a:srgbClr val="1F2A33"/>
                </a:solidFill>
                <a:latin typeface="Courier New" pitchFamily="34" charset="0"/>
                <a:ea typeface="Courier New" pitchFamily="34" charset="-122"/>
                <a:cs typeface="Courier New" pitchFamily="34" charset="-120"/>
              </a:rPr>
              <a:t>0.96</a:t>
            </a:r>
            <a:endParaRPr lang="en-US" sz="1100" dirty="0"/>
          </a:p>
        </p:txBody>
      </p:sp>
      <p:sp>
        <p:nvSpPr>
          <p:cNvPr id="26" name="Text 23"/>
          <p:cNvSpPr/>
          <p:nvPr/>
        </p:nvSpPr>
        <p:spPr>
          <a:xfrm>
            <a:off x="9966960" y="2542032"/>
            <a:ext cx="502920" cy="402336"/>
          </a:xfrm>
          <a:prstGeom prst="rect">
            <a:avLst/>
          </a:prstGeom>
          <a:noFill/>
          <a:ln/>
        </p:spPr>
        <p:txBody>
          <a:bodyPr wrap="square" lIns="0" tIns="0" rIns="0" bIns="0" rtlCol="0" anchor="ctr"/>
          <a:lstStyle/>
          <a:p>
            <a:pPr marL="0" indent="0">
              <a:buNone/>
            </a:pPr>
            <a:r>
              <a:rPr lang="en-US" sz="1100" dirty="0">
                <a:solidFill>
                  <a:srgbClr val="1F2A33"/>
                </a:solidFill>
                <a:latin typeface="Courier New" pitchFamily="34" charset="0"/>
                <a:ea typeface="Courier New" pitchFamily="34" charset="-122"/>
                <a:cs typeface="Courier New" pitchFamily="34" charset="-120"/>
              </a:rPr>
              <a:t>0.24</a:t>
            </a:r>
            <a:endParaRPr lang="en-US" sz="1100" dirty="0"/>
          </a:p>
        </p:txBody>
      </p:sp>
      <p:sp>
        <p:nvSpPr>
          <p:cNvPr id="27" name="Text 24"/>
          <p:cNvSpPr/>
          <p:nvPr/>
        </p:nvSpPr>
        <p:spPr>
          <a:xfrm>
            <a:off x="10515600" y="2542032"/>
            <a:ext cx="1051560" cy="402336"/>
          </a:xfrm>
          <a:prstGeom prst="rect">
            <a:avLst/>
          </a:prstGeom>
          <a:noFill/>
          <a:ln/>
        </p:spPr>
        <p:txBody>
          <a:bodyPr wrap="square" lIns="0" tIns="0" rIns="0" bIns="0" rtlCol="0" anchor="ctr"/>
          <a:lstStyle/>
          <a:p>
            <a:pPr marL="0" indent="0">
              <a:buNone/>
            </a:pPr>
            <a:r>
              <a:rPr lang="en-US" sz="1000" dirty="0">
                <a:solidFill>
                  <a:srgbClr val="C1553B"/>
                </a:solidFill>
                <a:latin typeface="Calibri" pitchFamily="34" charset="0"/>
                <a:ea typeface="Calibri" pitchFamily="34" charset="-122"/>
                <a:cs typeface="Calibri" pitchFamily="34" charset="-120"/>
              </a:rPr>
              <a:t>low/dead</a:t>
            </a:r>
            <a:endParaRPr lang="en-US" sz="1000" dirty="0"/>
          </a:p>
        </p:txBody>
      </p:sp>
      <p:sp>
        <p:nvSpPr>
          <p:cNvPr id="28" name="Text 25"/>
          <p:cNvSpPr/>
          <p:nvPr/>
        </p:nvSpPr>
        <p:spPr>
          <a:xfrm>
            <a:off x="7818120" y="2944368"/>
            <a:ext cx="777240" cy="402336"/>
          </a:xfrm>
          <a:prstGeom prst="rect">
            <a:avLst/>
          </a:prstGeom>
          <a:noFill/>
          <a:ln/>
        </p:spPr>
        <p:txBody>
          <a:bodyPr wrap="square" lIns="0" tIns="0" rIns="0" bIns="0" rtlCol="0" anchor="ctr"/>
          <a:lstStyle/>
          <a:p>
            <a:pPr marL="0" indent="0">
              <a:buNone/>
            </a:pPr>
            <a:r>
              <a:rPr lang="en-US" sz="1100" dirty="0">
                <a:solidFill>
                  <a:srgbClr val="1F2A33"/>
                </a:solidFill>
                <a:latin typeface="Courier New" pitchFamily="34" charset="0"/>
                <a:ea typeface="Courier New" pitchFamily="34" charset="-122"/>
                <a:cs typeface="Courier New" pitchFamily="34" charset="-120"/>
              </a:rPr>
              <a:t>L6 W61</a:t>
            </a:r>
            <a:endParaRPr lang="en-US" sz="1100" dirty="0"/>
          </a:p>
        </p:txBody>
      </p:sp>
      <p:sp>
        <p:nvSpPr>
          <p:cNvPr id="29" name="Text 26"/>
          <p:cNvSpPr/>
          <p:nvPr/>
        </p:nvSpPr>
        <p:spPr>
          <a:xfrm>
            <a:off x="8613648" y="2944368"/>
            <a:ext cx="731520" cy="402336"/>
          </a:xfrm>
          <a:prstGeom prst="rect">
            <a:avLst/>
          </a:prstGeom>
          <a:noFill/>
          <a:ln/>
        </p:spPr>
        <p:txBody>
          <a:bodyPr wrap="square" lIns="0" tIns="0" rIns="0" bIns="0" rtlCol="0" anchor="ctr"/>
          <a:lstStyle/>
          <a:p>
            <a:pPr marL="0" indent="0">
              <a:buNone/>
            </a:pPr>
            <a:r>
              <a:rPr lang="en-US" sz="1100" dirty="0">
                <a:solidFill>
                  <a:srgbClr val="1F2A33"/>
                </a:solidFill>
                <a:latin typeface="Courier New" pitchFamily="34" charset="0"/>
                <a:ea typeface="Courier New" pitchFamily="34" charset="-122"/>
                <a:cs typeface="Courier New" pitchFamily="34" charset="-120"/>
              </a:rPr>
              <a:t>0.57</a:t>
            </a:r>
            <a:endParaRPr lang="en-US" sz="1100" dirty="0"/>
          </a:p>
        </p:txBody>
      </p:sp>
      <p:sp>
        <p:nvSpPr>
          <p:cNvPr id="30" name="Text 27"/>
          <p:cNvSpPr/>
          <p:nvPr/>
        </p:nvSpPr>
        <p:spPr>
          <a:xfrm>
            <a:off x="9363456" y="2944368"/>
            <a:ext cx="566928" cy="402336"/>
          </a:xfrm>
          <a:prstGeom prst="rect">
            <a:avLst/>
          </a:prstGeom>
          <a:noFill/>
          <a:ln/>
        </p:spPr>
        <p:txBody>
          <a:bodyPr wrap="square" lIns="0" tIns="0" rIns="0" bIns="0" rtlCol="0" anchor="ctr"/>
          <a:lstStyle/>
          <a:p>
            <a:pPr marL="0" indent="0">
              <a:buNone/>
            </a:pPr>
            <a:r>
              <a:rPr lang="en-US" sz="1100" dirty="0">
                <a:solidFill>
                  <a:srgbClr val="1F2A33"/>
                </a:solidFill>
                <a:latin typeface="Courier New" pitchFamily="34" charset="0"/>
                <a:ea typeface="Courier New" pitchFamily="34" charset="-122"/>
                <a:cs typeface="Courier New" pitchFamily="34" charset="-120"/>
              </a:rPr>
              <a:t>1.40</a:t>
            </a:r>
            <a:endParaRPr lang="en-US" sz="1100" dirty="0"/>
          </a:p>
        </p:txBody>
      </p:sp>
      <p:sp>
        <p:nvSpPr>
          <p:cNvPr id="31" name="Text 28"/>
          <p:cNvSpPr/>
          <p:nvPr/>
        </p:nvSpPr>
        <p:spPr>
          <a:xfrm>
            <a:off x="9966960" y="2944368"/>
            <a:ext cx="502920" cy="402336"/>
          </a:xfrm>
          <a:prstGeom prst="rect">
            <a:avLst/>
          </a:prstGeom>
          <a:noFill/>
          <a:ln/>
        </p:spPr>
        <p:txBody>
          <a:bodyPr wrap="square" lIns="0" tIns="0" rIns="0" bIns="0" rtlCol="0" anchor="ctr"/>
          <a:lstStyle/>
          <a:p>
            <a:pPr marL="0" indent="0">
              <a:buNone/>
            </a:pPr>
            <a:r>
              <a:rPr lang="en-US" sz="1100" dirty="0">
                <a:solidFill>
                  <a:srgbClr val="1F2A33"/>
                </a:solidFill>
                <a:latin typeface="Courier New" pitchFamily="34" charset="0"/>
                <a:ea typeface="Courier New" pitchFamily="34" charset="-122"/>
                <a:cs typeface="Courier New" pitchFamily="34" charset="-120"/>
              </a:rPr>
              <a:t>0.41</a:t>
            </a:r>
            <a:endParaRPr lang="en-US" sz="1100" dirty="0"/>
          </a:p>
        </p:txBody>
      </p:sp>
      <p:sp>
        <p:nvSpPr>
          <p:cNvPr id="32" name="Text 29"/>
          <p:cNvSpPr/>
          <p:nvPr/>
        </p:nvSpPr>
        <p:spPr>
          <a:xfrm>
            <a:off x="10515600" y="2944368"/>
            <a:ext cx="1051560" cy="402336"/>
          </a:xfrm>
          <a:prstGeom prst="rect">
            <a:avLst/>
          </a:prstGeom>
          <a:noFill/>
          <a:ln/>
        </p:spPr>
        <p:txBody>
          <a:bodyPr wrap="square" lIns="0" tIns="0" rIns="0" bIns="0" rtlCol="0" anchor="ctr"/>
          <a:lstStyle/>
          <a:p>
            <a:pPr marL="0" indent="0">
              <a:buNone/>
            </a:pPr>
            <a:r>
              <a:rPr lang="en-US" sz="1000" dirty="0">
                <a:solidFill>
                  <a:srgbClr val="C1553B"/>
                </a:solidFill>
                <a:latin typeface="Calibri" pitchFamily="34" charset="0"/>
                <a:ea typeface="Calibri" pitchFamily="34" charset="-122"/>
                <a:cs typeface="Calibri" pitchFamily="34" charset="-120"/>
              </a:rPr>
              <a:t>low/dead</a:t>
            </a:r>
            <a:endParaRPr lang="en-US" sz="1000" dirty="0"/>
          </a:p>
        </p:txBody>
      </p:sp>
      <p:sp>
        <p:nvSpPr>
          <p:cNvPr id="33" name="Shape 30"/>
          <p:cNvSpPr/>
          <p:nvPr/>
        </p:nvSpPr>
        <p:spPr>
          <a:xfrm>
            <a:off x="7680960" y="3346704"/>
            <a:ext cx="3931920" cy="402336"/>
          </a:xfrm>
          <a:prstGeom prst="roundRect">
            <a:avLst>
              <a:gd name="adj" fmla="val 13636"/>
            </a:avLst>
          </a:prstGeom>
          <a:solidFill>
            <a:srgbClr val="F1F4F5"/>
          </a:solidFill>
          <a:ln w="9525">
            <a:solidFill>
              <a:srgbClr val="E2E7E9"/>
            </a:solidFill>
            <a:prstDash val="solid"/>
          </a:ln>
        </p:spPr>
        <p:txBody>
          <a:bodyPr/>
          <a:lstStyle/>
          <a:p>
            <a:endParaRPr lang="en-US"/>
          </a:p>
        </p:txBody>
      </p:sp>
      <p:sp>
        <p:nvSpPr>
          <p:cNvPr id="34" name="Text 31"/>
          <p:cNvSpPr/>
          <p:nvPr/>
        </p:nvSpPr>
        <p:spPr>
          <a:xfrm>
            <a:off x="7818120" y="3346704"/>
            <a:ext cx="777240" cy="402336"/>
          </a:xfrm>
          <a:prstGeom prst="rect">
            <a:avLst/>
          </a:prstGeom>
          <a:noFill/>
          <a:ln/>
        </p:spPr>
        <p:txBody>
          <a:bodyPr wrap="square" lIns="0" tIns="0" rIns="0" bIns="0" rtlCol="0" anchor="ctr"/>
          <a:lstStyle/>
          <a:p>
            <a:pPr marL="0" indent="0">
              <a:buNone/>
            </a:pPr>
            <a:r>
              <a:rPr lang="en-US" sz="1100" dirty="0">
                <a:solidFill>
                  <a:srgbClr val="1F2A33"/>
                </a:solidFill>
                <a:latin typeface="Courier New" pitchFamily="34" charset="0"/>
                <a:ea typeface="Courier New" pitchFamily="34" charset="-122"/>
                <a:cs typeface="Courier New" pitchFamily="34" charset="-120"/>
              </a:rPr>
              <a:t>L4 W67</a:t>
            </a:r>
            <a:endParaRPr lang="en-US" sz="1100" dirty="0"/>
          </a:p>
        </p:txBody>
      </p:sp>
      <p:sp>
        <p:nvSpPr>
          <p:cNvPr id="35" name="Text 32"/>
          <p:cNvSpPr/>
          <p:nvPr/>
        </p:nvSpPr>
        <p:spPr>
          <a:xfrm>
            <a:off x="8613648" y="3346704"/>
            <a:ext cx="731520" cy="402336"/>
          </a:xfrm>
          <a:prstGeom prst="rect">
            <a:avLst/>
          </a:prstGeom>
          <a:noFill/>
          <a:ln/>
        </p:spPr>
        <p:txBody>
          <a:bodyPr wrap="square" lIns="0" tIns="0" rIns="0" bIns="0" rtlCol="0" anchor="ctr"/>
          <a:lstStyle/>
          <a:p>
            <a:pPr marL="0" indent="0">
              <a:buNone/>
            </a:pPr>
            <a:r>
              <a:rPr lang="en-US" sz="1100" dirty="0">
                <a:solidFill>
                  <a:srgbClr val="1F2A33"/>
                </a:solidFill>
                <a:latin typeface="Courier New" pitchFamily="34" charset="0"/>
                <a:ea typeface="Courier New" pitchFamily="34" charset="-122"/>
                <a:cs typeface="Courier New" pitchFamily="34" charset="-120"/>
              </a:rPr>
              <a:t>0.52</a:t>
            </a:r>
            <a:endParaRPr lang="en-US" sz="1100" dirty="0"/>
          </a:p>
        </p:txBody>
      </p:sp>
      <p:sp>
        <p:nvSpPr>
          <p:cNvPr id="36" name="Text 33"/>
          <p:cNvSpPr/>
          <p:nvPr/>
        </p:nvSpPr>
        <p:spPr>
          <a:xfrm>
            <a:off x="9363456" y="3346704"/>
            <a:ext cx="566928" cy="402336"/>
          </a:xfrm>
          <a:prstGeom prst="rect">
            <a:avLst/>
          </a:prstGeom>
          <a:noFill/>
          <a:ln/>
        </p:spPr>
        <p:txBody>
          <a:bodyPr wrap="square" lIns="0" tIns="0" rIns="0" bIns="0" rtlCol="0" anchor="ctr"/>
          <a:lstStyle/>
          <a:p>
            <a:pPr marL="0" indent="0">
              <a:buNone/>
            </a:pPr>
            <a:r>
              <a:rPr lang="en-US" sz="1100" dirty="0">
                <a:solidFill>
                  <a:srgbClr val="1F2A33"/>
                </a:solidFill>
                <a:latin typeface="Courier New" pitchFamily="34" charset="0"/>
                <a:ea typeface="Courier New" pitchFamily="34" charset="-122"/>
                <a:cs typeface="Courier New" pitchFamily="34" charset="-120"/>
              </a:rPr>
              <a:t>0.78</a:t>
            </a:r>
            <a:endParaRPr lang="en-US" sz="1100" dirty="0"/>
          </a:p>
        </p:txBody>
      </p:sp>
      <p:sp>
        <p:nvSpPr>
          <p:cNvPr id="37" name="Text 34"/>
          <p:cNvSpPr/>
          <p:nvPr/>
        </p:nvSpPr>
        <p:spPr>
          <a:xfrm>
            <a:off x="9966960" y="3346704"/>
            <a:ext cx="502920" cy="402336"/>
          </a:xfrm>
          <a:prstGeom prst="rect">
            <a:avLst/>
          </a:prstGeom>
          <a:noFill/>
          <a:ln/>
        </p:spPr>
        <p:txBody>
          <a:bodyPr wrap="square" lIns="0" tIns="0" rIns="0" bIns="0" rtlCol="0" anchor="ctr"/>
          <a:lstStyle/>
          <a:p>
            <a:pPr marL="0" indent="0">
              <a:buNone/>
            </a:pPr>
            <a:r>
              <a:rPr lang="en-US" sz="1100" dirty="0">
                <a:solidFill>
                  <a:srgbClr val="1F2A33"/>
                </a:solidFill>
                <a:latin typeface="Courier New" pitchFamily="34" charset="0"/>
                <a:ea typeface="Courier New" pitchFamily="34" charset="-122"/>
                <a:cs typeface="Courier New" pitchFamily="34" charset="-120"/>
              </a:rPr>
              <a:t>0.66</a:t>
            </a:r>
            <a:endParaRPr lang="en-US" sz="1100" dirty="0"/>
          </a:p>
        </p:txBody>
      </p:sp>
      <p:sp>
        <p:nvSpPr>
          <p:cNvPr id="38" name="Text 35"/>
          <p:cNvSpPr/>
          <p:nvPr/>
        </p:nvSpPr>
        <p:spPr>
          <a:xfrm>
            <a:off x="10515600" y="3346704"/>
            <a:ext cx="1051560" cy="402336"/>
          </a:xfrm>
          <a:prstGeom prst="rect">
            <a:avLst/>
          </a:prstGeom>
          <a:noFill/>
          <a:ln/>
        </p:spPr>
        <p:txBody>
          <a:bodyPr wrap="square" lIns="0" tIns="0" rIns="0" bIns="0" rtlCol="0" anchor="ctr"/>
          <a:lstStyle/>
          <a:p>
            <a:pPr marL="0" indent="0">
              <a:buNone/>
            </a:pPr>
            <a:r>
              <a:rPr lang="en-US" sz="1000" dirty="0">
                <a:solidFill>
                  <a:srgbClr val="C1553B"/>
                </a:solidFill>
                <a:latin typeface="Calibri" pitchFamily="34" charset="0"/>
                <a:ea typeface="Calibri" pitchFamily="34" charset="-122"/>
                <a:cs typeface="Calibri" pitchFamily="34" charset="-120"/>
              </a:rPr>
              <a:t>near cut</a:t>
            </a:r>
            <a:endParaRPr lang="en-US" sz="1000" dirty="0"/>
          </a:p>
        </p:txBody>
      </p:sp>
      <p:sp>
        <p:nvSpPr>
          <p:cNvPr id="39" name="Text 36"/>
          <p:cNvSpPr/>
          <p:nvPr/>
        </p:nvSpPr>
        <p:spPr>
          <a:xfrm>
            <a:off x="7680960" y="3977640"/>
            <a:ext cx="3931920" cy="1005840"/>
          </a:xfrm>
          <a:prstGeom prst="rect">
            <a:avLst/>
          </a:prstGeom>
          <a:noFill/>
          <a:ln/>
        </p:spPr>
        <p:txBody>
          <a:bodyPr wrap="square" rtlCol="0" anchor="ctr"/>
          <a:lstStyle/>
          <a:p>
            <a:pPr marL="0" indent="0">
              <a:buNone/>
            </a:pPr>
            <a:r>
              <a:rPr lang="en-US" sz="1400" dirty="0">
                <a:solidFill>
                  <a:srgbClr val="2E3F4A"/>
                </a:solidFill>
                <a:latin typeface="Calibri" pitchFamily="34" charset="0"/>
                <a:ea typeface="Calibri" pitchFamily="34" charset="-122"/>
                <a:cs typeface="Calibri" pitchFamily="34" charset="-120"/>
              </a:rPr>
              <a:t>L4 W67 is the one Raphael picked but not this work. It is at the edge of the cut, which can be easily tuned. </a:t>
            </a:r>
            <a:endParaRPr lang="en-US" sz="1400" dirty="0"/>
          </a:p>
        </p:txBody>
      </p:sp>
      <p:sp>
        <p:nvSpPr>
          <p:cNvPr id="40" name="TextBox 39">
            <a:extLst>
              <a:ext uri="{FF2B5EF4-FFF2-40B4-BE49-F238E27FC236}">
                <a16:creationId xmlns:a16="http://schemas.microsoft.com/office/drawing/2014/main" id="{7A41F237-B9E4-2102-DCF8-36FE9B84EE43}"/>
              </a:ext>
            </a:extLst>
          </p:cNvPr>
          <p:cNvSpPr txBox="1"/>
          <p:nvPr/>
        </p:nvSpPr>
        <p:spPr>
          <a:xfrm>
            <a:off x="2741463" y="6014966"/>
            <a:ext cx="5872185" cy="369332"/>
          </a:xfrm>
          <a:prstGeom prst="rect">
            <a:avLst/>
          </a:prstGeom>
          <a:noFill/>
        </p:spPr>
        <p:txBody>
          <a:bodyPr wrap="none" rtlCol="0">
            <a:spAutoFit/>
          </a:bodyPr>
          <a:lstStyle/>
          <a:p>
            <a:r>
              <a:rPr lang="en-US" dirty="0"/>
              <a:t>The algorithm seems to work very well to pick the bad wires.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384048"/>
            <a:ext cx="10058400" cy="256032"/>
          </a:xfrm>
          <a:prstGeom prst="rect">
            <a:avLst/>
          </a:prstGeom>
          <a:noFill/>
          <a:ln/>
        </p:spPr>
        <p:txBody>
          <a:bodyPr wrap="square" rtlCol="0" anchor="ctr"/>
          <a:lstStyle/>
          <a:p>
            <a:pPr marL="0" indent="0">
              <a:buNone/>
            </a:pPr>
            <a:r>
              <a:rPr lang="en-US" sz="1200" b="1" kern="0" spc="200" dirty="0">
                <a:solidFill>
                  <a:srgbClr val="0E7C86"/>
                </a:solidFill>
                <a:latin typeface="Arial" pitchFamily="34" charset="0"/>
                <a:ea typeface="Arial" pitchFamily="34" charset="-122"/>
                <a:cs typeface="Arial" pitchFamily="34" charset="-120"/>
              </a:rPr>
              <a:t>THE OUTLIER CUT</a:t>
            </a:r>
            <a:endParaRPr lang="en-US" sz="1200" dirty="0"/>
          </a:p>
        </p:txBody>
      </p:sp>
      <p:sp>
        <p:nvSpPr>
          <p:cNvPr id="3" name="Text 1"/>
          <p:cNvSpPr/>
          <p:nvPr/>
        </p:nvSpPr>
        <p:spPr>
          <a:xfrm>
            <a:off x="640080" y="658368"/>
            <a:ext cx="10972800" cy="566928"/>
          </a:xfrm>
          <a:prstGeom prst="rect">
            <a:avLst/>
          </a:prstGeom>
          <a:noFill/>
          <a:ln/>
        </p:spPr>
        <p:txBody>
          <a:bodyPr wrap="square" rtlCol="0" anchor="ctr"/>
          <a:lstStyle/>
          <a:p>
            <a:pPr marL="0" indent="0">
              <a:buNone/>
            </a:pPr>
            <a:r>
              <a:rPr lang="en-US" sz="3000" b="1" dirty="0">
                <a:solidFill>
                  <a:srgbClr val="1F2A33"/>
                </a:solidFill>
                <a:latin typeface="Cambria" pitchFamily="34" charset="0"/>
                <a:ea typeface="Cambria" pitchFamily="34" charset="-122"/>
                <a:cs typeface="Cambria" pitchFamily="34" charset="-120"/>
              </a:rPr>
              <a:t>In practice: a 25 % change</a:t>
            </a:r>
            <a:endParaRPr lang="en-US" sz="3000" dirty="0"/>
          </a:p>
        </p:txBody>
      </p:sp>
      <p:pic>
        <p:nvPicPr>
          <p:cNvPr id="6" name="Image 0" descr="/sessions/amazing-upbeat-pasteur/mnt/deadChannel-ALERT-CLAS12/outlier_example.png"/>
          <p:cNvPicPr>
            <a:picLocks noChangeAspect="1"/>
          </p:cNvPicPr>
          <p:nvPr/>
        </p:nvPicPr>
        <p:blipFill>
          <a:blip r:embed="rId3"/>
          <a:stretch>
            <a:fillRect/>
          </a:stretch>
        </p:blipFill>
        <p:spPr>
          <a:xfrm>
            <a:off x="640080" y="1460500"/>
            <a:ext cx="7589520" cy="4620260"/>
          </a:xfrm>
          <a:prstGeom prst="rect">
            <a:avLst/>
          </a:prstGeom>
        </p:spPr>
      </p:pic>
      <p:sp>
        <p:nvSpPr>
          <p:cNvPr id="7" name="Text 4"/>
          <p:cNvSpPr/>
          <p:nvPr/>
        </p:nvSpPr>
        <p:spPr>
          <a:xfrm>
            <a:off x="8458200" y="3017520"/>
            <a:ext cx="3108960" cy="274320"/>
          </a:xfrm>
          <a:prstGeom prst="rect">
            <a:avLst/>
          </a:prstGeom>
          <a:noFill/>
          <a:ln/>
        </p:spPr>
        <p:txBody>
          <a:bodyPr wrap="square" lIns="0" tIns="0" rIns="0" bIns="0" rtlCol="0" anchor="ctr"/>
          <a:lstStyle/>
          <a:p>
            <a:pPr marL="0" indent="0">
              <a:buNone/>
            </a:pPr>
            <a:r>
              <a:rPr lang="en-US" sz="1400" b="1" dirty="0">
                <a:solidFill>
                  <a:srgbClr val="1F2A33"/>
                </a:solidFill>
                <a:latin typeface="Calibri" pitchFamily="34" charset="0"/>
                <a:ea typeface="Calibri" pitchFamily="34" charset="-122"/>
                <a:cs typeface="Calibri" pitchFamily="34" charset="-120"/>
              </a:rPr>
              <a:t>Where 25 % comes from</a:t>
            </a:r>
            <a:endParaRPr lang="en-US" sz="1400" dirty="0"/>
          </a:p>
        </p:txBody>
      </p:sp>
      <p:sp>
        <p:nvSpPr>
          <p:cNvPr id="8" name="Text 5"/>
          <p:cNvSpPr/>
          <p:nvPr/>
        </p:nvSpPr>
        <p:spPr>
          <a:xfrm>
            <a:off x="8458200" y="3364992"/>
            <a:ext cx="3108960" cy="274320"/>
          </a:xfrm>
          <a:prstGeom prst="rect">
            <a:avLst/>
          </a:prstGeom>
          <a:noFill/>
          <a:ln/>
        </p:spPr>
        <p:txBody>
          <a:bodyPr wrap="square" lIns="0" tIns="0" rIns="0" bIns="0" rtlCol="0" anchor="ctr"/>
          <a:lstStyle/>
          <a:p>
            <a:pPr marL="0" indent="0">
              <a:buNone/>
            </a:pPr>
            <a:r>
              <a:rPr lang="en-US" sz="1200" b="1" dirty="0">
                <a:solidFill>
                  <a:srgbClr val="0E7C86"/>
                </a:solidFill>
                <a:latin typeface="Courier New" pitchFamily="34" charset="0"/>
                <a:ea typeface="Courier New" pitchFamily="34" charset="-122"/>
                <a:cs typeface="Courier New" pitchFamily="34" charset="-120"/>
              </a:rPr>
              <a:t>threshold 5  ×  scale 0.05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384048"/>
            <a:ext cx="10058400" cy="256032"/>
          </a:xfrm>
          <a:prstGeom prst="rect">
            <a:avLst/>
          </a:prstGeom>
          <a:noFill/>
          <a:ln/>
        </p:spPr>
        <p:txBody>
          <a:bodyPr wrap="square" rtlCol="0" anchor="ctr"/>
          <a:lstStyle/>
          <a:p>
            <a:pPr marL="0" indent="0">
              <a:buNone/>
            </a:pPr>
            <a:r>
              <a:rPr lang="en-US" sz="1200" b="1" kern="0" spc="200" dirty="0">
                <a:solidFill>
                  <a:srgbClr val="0E7C86"/>
                </a:solidFill>
                <a:latin typeface="Arial" pitchFamily="34" charset="0"/>
                <a:ea typeface="Arial" pitchFamily="34" charset="-122"/>
                <a:cs typeface="Arial" pitchFamily="34" charset="-120"/>
              </a:rPr>
              <a:t>WHY IT HOLDS</a:t>
            </a:r>
            <a:endParaRPr lang="en-US" sz="1200" dirty="0"/>
          </a:p>
        </p:txBody>
      </p:sp>
      <p:sp>
        <p:nvSpPr>
          <p:cNvPr id="3" name="Text 1"/>
          <p:cNvSpPr/>
          <p:nvPr/>
        </p:nvSpPr>
        <p:spPr>
          <a:xfrm>
            <a:off x="640080" y="658368"/>
            <a:ext cx="10972800" cy="566928"/>
          </a:xfrm>
          <a:prstGeom prst="rect">
            <a:avLst/>
          </a:prstGeom>
          <a:noFill/>
          <a:ln/>
        </p:spPr>
        <p:txBody>
          <a:bodyPr wrap="square" rtlCol="0" anchor="ctr"/>
          <a:lstStyle/>
          <a:p>
            <a:pPr marL="0" indent="0">
              <a:buNone/>
            </a:pPr>
            <a:r>
              <a:rPr lang="en-US" sz="3000" b="1" dirty="0">
                <a:solidFill>
                  <a:srgbClr val="1F2A33"/>
                </a:solidFill>
                <a:latin typeface="Cambria" pitchFamily="34" charset="0"/>
                <a:ea typeface="Cambria" pitchFamily="34" charset="-122"/>
                <a:cs typeface="Cambria" pitchFamily="34" charset="-120"/>
              </a:rPr>
              <a:t>Another example with low overall ADC values</a:t>
            </a:r>
            <a:endParaRPr lang="en-US" sz="3000" dirty="0"/>
          </a:p>
        </p:txBody>
      </p:sp>
      <p:pic>
        <p:nvPicPr>
          <p:cNvPr id="4" name="Image 0" descr="/sessions/amazing-upbeat-pasteur/mnt/deadChannel-ALERT-CLAS12/examples/run22897_map.png"/>
          <p:cNvPicPr>
            <a:picLocks noChangeAspect="1"/>
          </p:cNvPicPr>
          <p:nvPr/>
        </p:nvPicPr>
        <p:blipFill>
          <a:blip r:embed="rId3"/>
          <a:stretch>
            <a:fillRect/>
          </a:stretch>
        </p:blipFill>
        <p:spPr>
          <a:xfrm>
            <a:off x="640080" y="1783080"/>
            <a:ext cx="6583680" cy="3291840"/>
          </a:xfrm>
          <a:prstGeom prst="rect">
            <a:avLst/>
          </a:prstGeom>
        </p:spPr>
      </p:pic>
      <p:sp>
        <p:nvSpPr>
          <p:cNvPr id="5" name="Text 2"/>
          <p:cNvSpPr/>
          <p:nvPr/>
        </p:nvSpPr>
        <p:spPr>
          <a:xfrm>
            <a:off x="640080" y="1417320"/>
            <a:ext cx="6583680" cy="292608"/>
          </a:xfrm>
          <a:prstGeom prst="rect">
            <a:avLst/>
          </a:prstGeom>
          <a:noFill/>
          <a:ln/>
        </p:spPr>
        <p:txBody>
          <a:bodyPr wrap="square" lIns="0" tIns="0" rIns="0" bIns="0" rtlCol="0" anchor="ctr"/>
          <a:lstStyle/>
          <a:p>
            <a:pPr marL="0" indent="0">
              <a:buNone/>
            </a:pPr>
            <a:r>
              <a:rPr lang="en-US" sz="1300" b="1" dirty="0">
                <a:solidFill>
                  <a:srgbClr val="1F2A33"/>
                </a:solidFill>
                <a:latin typeface="Calibri" pitchFamily="34" charset="0"/>
                <a:ea typeface="Calibri" pitchFamily="34" charset="-122"/>
                <a:cs typeface="Calibri" pitchFamily="34" charset="-120"/>
              </a:rPr>
              <a:t>Run 22897 — the detector delivered a quarter of its usual charge</a:t>
            </a:r>
            <a:endParaRPr lang="en-US" sz="1300" dirty="0"/>
          </a:p>
        </p:txBody>
      </p:sp>
      <p:sp>
        <p:nvSpPr>
          <p:cNvPr id="6" name="Text 3"/>
          <p:cNvSpPr/>
          <p:nvPr/>
        </p:nvSpPr>
        <p:spPr>
          <a:xfrm>
            <a:off x="640080" y="5120640"/>
            <a:ext cx="6583680" cy="365760"/>
          </a:xfrm>
          <a:prstGeom prst="rect">
            <a:avLst/>
          </a:prstGeom>
          <a:noFill/>
          <a:ln/>
        </p:spPr>
        <p:txBody>
          <a:bodyPr wrap="square" lIns="0" tIns="0" rIns="0" bIns="0" rtlCol="0" anchor="ctr"/>
          <a:lstStyle/>
          <a:p>
            <a:pPr marL="0" indent="0">
              <a:buNone/>
            </a:pPr>
            <a:r>
              <a:rPr lang="en-US" sz="1100" dirty="0">
                <a:solidFill>
                  <a:srgbClr val="6B7A83"/>
                </a:solidFill>
                <a:latin typeface="Calibri" pitchFamily="34" charset="0"/>
                <a:ea typeface="Calibri" pitchFamily="34" charset="-122"/>
                <a:cs typeface="Calibri" pitchFamily="34" charset="-120"/>
              </a:rPr>
              <a:t>Top: every wire reads low in absolute terms.  Bottom: after the ratios, the map is flat.</a:t>
            </a:r>
            <a:endParaRPr lang="en-US" sz="1100" dirty="0"/>
          </a:p>
        </p:txBody>
      </p:sp>
      <p:sp>
        <p:nvSpPr>
          <p:cNvPr id="8" name="Text 5"/>
          <p:cNvSpPr/>
          <p:nvPr/>
        </p:nvSpPr>
        <p:spPr>
          <a:xfrm>
            <a:off x="7498080" y="1536192"/>
            <a:ext cx="4023360" cy="566928"/>
          </a:xfrm>
          <a:prstGeom prst="rect">
            <a:avLst/>
          </a:prstGeom>
          <a:noFill/>
          <a:ln/>
        </p:spPr>
        <p:txBody>
          <a:bodyPr wrap="square" lIns="0" tIns="0" rIns="0" bIns="0" rtlCol="0" anchor="ctr"/>
          <a:lstStyle/>
          <a:p>
            <a:pPr marL="0" indent="0" algn="ctr">
              <a:buNone/>
            </a:pPr>
            <a:r>
              <a:rPr lang="en-US" sz="2700" b="1" dirty="0">
                <a:solidFill>
                  <a:srgbClr val="FFFFFF"/>
                </a:solidFill>
                <a:latin typeface="Cambria" pitchFamily="34" charset="0"/>
                <a:ea typeface="Cambria" pitchFamily="34" charset="-122"/>
                <a:cs typeface="Cambria" pitchFamily="34" charset="-120"/>
              </a:rPr>
              <a:t>616,724 / 616,724</a:t>
            </a:r>
            <a:endParaRPr lang="en-US" sz="2700" dirty="0"/>
          </a:p>
        </p:txBody>
      </p:sp>
      <p:sp>
        <p:nvSpPr>
          <p:cNvPr id="10" name="Text 7"/>
          <p:cNvSpPr/>
          <p:nvPr/>
        </p:nvSpPr>
        <p:spPr>
          <a:xfrm>
            <a:off x="7117080" y="1883664"/>
            <a:ext cx="4023360" cy="274320"/>
          </a:xfrm>
          <a:prstGeom prst="rect">
            <a:avLst/>
          </a:prstGeom>
          <a:noFill/>
          <a:ln/>
        </p:spPr>
        <p:txBody>
          <a:bodyPr wrap="square" lIns="0" tIns="0" rIns="0" bIns="0" rtlCol="0" anchor="ctr"/>
          <a:lstStyle/>
          <a:p>
            <a:pPr marL="0" indent="0">
              <a:buNone/>
            </a:pPr>
            <a:r>
              <a:rPr lang="en-US" sz="1300" b="1" dirty="0">
                <a:solidFill>
                  <a:srgbClr val="1F2A33"/>
                </a:solidFill>
                <a:latin typeface="Calibri" pitchFamily="34" charset="0"/>
                <a:ea typeface="Calibri" pitchFamily="34" charset="-122"/>
                <a:cs typeface="Calibri" pitchFamily="34" charset="-120"/>
              </a:rPr>
              <a:t>The same wire, two runs</a:t>
            </a:r>
            <a:endParaRPr lang="en-US" sz="1300" dirty="0"/>
          </a:p>
        </p:txBody>
      </p:sp>
      <p:sp>
        <p:nvSpPr>
          <p:cNvPr id="11" name="Text 8"/>
          <p:cNvSpPr/>
          <p:nvPr/>
        </p:nvSpPr>
        <p:spPr>
          <a:xfrm>
            <a:off x="7254240" y="2231136"/>
            <a:ext cx="1600200" cy="365760"/>
          </a:xfrm>
          <a:prstGeom prst="rect">
            <a:avLst/>
          </a:prstGeom>
          <a:noFill/>
          <a:ln/>
        </p:spPr>
        <p:txBody>
          <a:bodyPr wrap="square" lIns="0" tIns="0" rIns="0" bIns="0" rtlCol="0" anchor="ctr"/>
          <a:lstStyle/>
          <a:p>
            <a:pPr marL="0" indent="0">
              <a:buNone/>
            </a:pPr>
            <a:r>
              <a:rPr lang="en-US" sz="1050" b="1" dirty="0">
                <a:solidFill>
                  <a:srgbClr val="1F2A33"/>
                </a:solidFill>
                <a:latin typeface="Calibri" pitchFamily="34" charset="0"/>
                <a:ea typeface="Calibri" pitchFamily="34" charset="-122"/>
                <a:cs typeface="Calibri" pitchFamily="34" charset="-120"/>
              </a:rPr>
              <a:t>layer 1, wire 1</a:t>
            </a:r>
            <a:endParaRPr lang="en-US" sz="1050" dirty="0"/>
          </a:p>
        </p:txBody>
      </p:sp>
      <p:sp>
        <p:nvSpPr>
          <p:cNvPr id="12" name="Text 9"/>
          <p:cNvSpPr/>
          <p:nvPr/>
        </p:nvSpPr>
        <p:spPr>
          <a:xfrm>
            <a:off x="8900160" y="2231136"/>
            <a:ext cx="1005840" cy="365760"/>
          </a:xfrm>
          <a:prstGeom prst="rect">
            <a:avLst/>
          </a:prstGeom>
          <a:noFill/>
          <a:ln/>
        </p:spPr>
        <p:txBody>
          <a:bodyPr wrap="square" lIns="0" tIns="0" rIns="0" bIns="0" rtlCol="0" anchor="ctr"/>
          <a:lstStyle/>
          <a:p>
            <a:pPr marL="0" indent="0">
              <a:buNone/>
            </a:pPr>
            <a:r>
              <a:rPr lang="en-US" sz="1050" b="1" dirty="0">
                <a:solidFill>
                  <a:srgbClr val="6B7A83"/>
                </a:solidFill>
                <a:latin typeface="Calibri" pitchFamily="34" charset="0"/>
                <a:ea typeface="Calibri" pitchFamily="34" charset="-122"/>
                <a:cs typeface="Calibri" pitchFamily="34" charset="-120"/>
              </a:rPr>
              <a:t>run 22603</a:t>
            </a:r>
            <a:endParaRPr lang="en-US" sz="1050" dirty="0"/>
          </a:p>
        </p:txBody>
      </p:sp>
      <p:sp>
        <p:nvSpPr>
          <p:cNvPr id="13" name="Text 10"/>
          <p:cNvSpPr/>
          <p:nvPr/>
        </p:nvSpPr>
        <p:spPr>
          <a:xfrm>
            <a:off x="9997440" y="2231136"/>
            <a:ext cx="1005840" cy="365760"/>
          </a:xfrm>
          <a:prstGeom prst="rect">
            <a:avLst/>
          </a:prstGeom>
          <a:noFill/>
          <a:ln/>
        </p:spPr>
        <p:txBody>
          <a:bodyPr wrap="square" lIns="0" tIns="0" rIns="0" bIns="0" rtlCol="0" anchor="ctr"/>
          <a:lstStyle/>
          <a:p>
            <a:pPr marL="0" indent="0">
              <a:buNone/>
            </a:pPr>
            <a:r>
              <a:rPr lang="en-US" sz="1050" b="1" dirty="0">
                <a:solidFill>
                  <a:srgbClr val="6B7A83"/>
                </a:solidFill>
                <a:latin typeface="Calibri" pitchFamily="34" charset="0"/>
                <a:ea typeface="Calibri" pitchFamily="34" charset="-122"/>
                <a:cs typeface="Calibri" pitchFamily="34" charset="-120"/>
              </a:rPr>
              <a:t>run 22897</a:t>
            </a:r>
            <a:endParaRPr lang="en-US" sz="1050" dirty="0"/>
          </a:p>
        </p:txBody>
      </p:sp>
      <p:sp>
        <p:nvSpPr>
          <p:cNvPr id="14" name="Text 11"/>
          <p:cNvSpPr/>
          <p:nvPr/>
        </p:nvSpPr>
        <p:spPr>
          <a:xfrm>
            <a:off x="7254240" y="2596896"/>
            <a:ext cx="1600200" cy="365760"/>
          </a:xfrm>
          <a:prstGeom prst="rect">
            <a:avLst/>
          </a:prstGeom>
          <a:noFill/>
          <a:ln/>
        </p:spPr>
        <p:txBody>
          <a:bodyPr wrap="square" lIns="0" tIns="0" rIns="0" bIns="0" rtlCol="0" anchor="ctr"/>
          <a:lstStyle/>
          <a:p>
            <a:pPr marL="0" indent="0">
              <a:buNone/>
            </a:pPr>
            <a:r>
              <a:rPr lang="en-US" sz="1050" dirty="0">
                <a:solidFill>
                  <a:srgbClr val="2E3F4A"/>
                </a:solidFill>
                <a:latin typeface="Courier New" pitchFamily="34" charset="0"/>
                <a:ea typeface="Courier New" pitchFamily="34" charset="-122"/>
                <a:cs typeface="Courier New" pitchFamily="34" charset="-120"/>
              </a:rPr>
              <a:t>brightness</a:t>
            </a:r>
            <a:endParaRPr lang="en-US" sz="1050" dirty="0"/>
          </a:p>
        </p:txBody>
      </p:sp>
      <p:sp>
        <p:nvSpPr>
          <p:cNvPr id="15" name="Text 12"/>
          <p:cNvSpPr/>
          <p:nvPr/>
        </p:nvSpPr>
        <p:spPr>
          <a:xfrm>
            <a:off x="8900160" y="2596896"/>
            <a:ext cx="1005840" cy="365760"/>
          </a:xfrm>
          <a:prstGeom prst="rect">
            <a:avLst/>
          </a:prstGeom>
          <a:noFill/>
          <a:ln/>
        </p:spPr>
        <p:txBody>
          <a:bodyPr wrap="square" lIns="0" tIns="0" rIns="0" bIns="0" rtlCol="0" anchor="ctr"/>
          <a:lstStyle/>
          <a:p>
            <a:pPr marL="0" indent="0">
              <a:buNone/>
            </a:pPr>
            <a:r>
              <a:rPr lang="en-US" sz="1050" dirty="0">
                <a:solidFill>
                  <a:srgbClr val="1F2A33"/>
                </a:solidFill>
                <a:latin typeface="Courier New" pitchFamily="34" charset="0"/>
                <a:ea typeface="Courier New" pitchFamily="34" charset="-122"/>
                <a:cs typeface="Courier New" pitchFamily="34" charset="-120"/>
              </a:rPr>
              <a:t>0.99</a:t>
            </a:r>
            <a:endParaRPr lang="en-US" sz="1050" dirty="0"/>
          </a:p>
        </p:txBody>
      </p:sp>
      <p:sp>
        <p:nvSpPr>
          <p:cNvPr id="16" name="Text 13"/>
          <p:cNvSpPr/>
          <p:nvPr/>
        </p:nvSpPr>
        <p:spPr>
          <a:xfrm>
            <a:off x="9997440" y="2596896"/>
            <a:ext cx="1005840" cy="365760"/>
          </a:xfrm>
          <a:prstGeom prst="rect">
            <a:avLst/>
          </a:prstGeom>
          <a:noFill/>
          <a:ln/>
        </p:spPr>
        <p:txBody>
          <a:bodyPr wrap="square" lIns="0" tIns="0" rIns="0" bIns="0" rtlCol="0" anchor="ctr"/>
          <a:lstStyle/>
          <a:p>
            <a:pPr marL="0" indent="0">
              <a:buNone/>
            </a:pPr>
            <a:r>
              <a:rPr lang="en-US" sz="1050" dirty="0">
                <a:solidFill>
                  <a:srgbClr val="0E7C86"/>
                </a:solidFill>
                <a:latin typeface="Courier New" pitchFamily="34" charset="0"/>
                <a:ea typeface="Courier New" pitchFamily="34" charset="-122"/>
                <a:cs typeface="Courier New" pitchFamily="34" charset="-120"/>
              </a:rPr>
              <a:t>0.26</a:t>
            </a:r>
            <a:endParaRPr lang="en-US" sz="1050" dirty="0"/>
          </a:p>
        </p:txBody>
      </p:sp>
      <p:sp>
        <p:nvSpPr>
          <p:cNvPr id="17" name="Shape 14"/>
          <p:cNvSpPr/>
          <p:nvPr/>
        </p:nvSpPr>
        <p:spPr>
          <a:xfrm>
            <a:off x="7117080" y="2962656"/>
            <a:ext cx="4023360" cy="365760"/>
          </a:xfrm>
          <a:prstGeom prst="roundRect">
            <a:avLst>
              <a:gd name="adj" fmla="val 15000"/>
            </a:avLst>
          </a:prstGeom>
          <a:solidFill>
            <a:srgbClr val="F1F4F5"/>
          </a:solidFill>
          <a:ln w="9525">
            <a:solidFill>
              <a:srgbClr val="E2E7E9"/>
            </a:solidFill>
            <a:prstDash val="solid"/>
          </a:ln>
        </p:spPr>
        <p:txBody>
          <a:bodyPr/>
          <a:lstStyle/>
          <a:p>
            <a:endParaRPr lang="en-US"/>
          </a:p>
        </p:txBody>
      </p:sp>
      <p:sp>
        <p:nvSpPr>
          <p:cNvPr id="18" name="Text 15"/>
          <p:cNvSpPr/>
          <p:nvPr/>
        </p:nvSpPr>
        <p:spPr>
          <a:xfrm>
            <a:off x="7254240" y="2962656"/>
            <a:ext cx="1600200" cy="365760"/>
          </a:xfrm>
          <a:prstGeom prst="rect">
            <a:avLst/>
          </a:prstGeom>
          <a:noFill/>
          <a:ln/>
        </p:spPr>
        <p:txBody>
          <a:bodyPr wrap="square" lIns="0" tIns="0" rIns="0" bIns="0" rtlCol="0" anchor="ctr"/>
          <a:lstStyle/>
          <a:p>
            <a:pPr marL="0" indent="0">
              <a:buNone/>
            </a:pPr>
            <a:r>
              <a:rPr lang="en-US" sz="1050" dirty="0">
                <a:solidFill>
                  <a:srgbClr val="2E3F4A"/>
                </a:solidFill>
                <a:latin typeface="Courier New" pitchFamily="34" charset="0"/>
                <a:ea typeface="Courier New" pitchFamily="34" charset="-122"/>
                <a:cs typeface="Courier New" pitchFamily="34" charset="-120"/>
              </a:rPr>
              <a:t>value</a:t>
            </a:r>
            <a:endParaRPr lang="en-US" sz="1050" dirty="0"/>
          </a:p>
        </p:txBody>
      </p:sp>
      <p:sp>
        <p:nvSpPr>
          <p:cNvPr id="19" name="Text 16"/>
          <p:cNvSpPr/>
          <p:nvPr/>
        </p:nvSpPr>
        <p:spPr>
          <a:xfrm>
            <a:off x="8900160" y="2962656"/>
            <a:ext cx="1005840" cy="365760"/>
          </a:xfrm>
          <a:prstGeom prst="rect">
            <a:avLst/>
          </a:prstGeom>
          <a:noFill/>
          <a:ln/>
        </p:spPr>
        <p:txBody>
          <a:bodyPr wrap="square" lIns="0" tIns="0" rIns="0" bIns="0" rtlCol="0" anchor="ctr"/>
          <a:lstStyle/>
          <a:p>
            <a:pPr marL="0" indent="0">
              <a:buNone/>
            </a:pPr>
            <a:r>
              <a:rPr lang="en-US" sz="1050" dirty="0">
                <a:solidFill>
                  <a:srgbClr val="1F2A33"/>
                </a:solidFill>
                <a:latin typeface="Courier New" pitchFamily="34" charset="0"/>
                <a:ea typeface="Courier New" pitchFamily="34" charset="-122"/>
                <a:cs typeface="Courier New" pitchFamily="34" charset="-120"/>
              </a:rPr>
              <a:t>2.095</a:t>
            </a:r>
            <a:endParaRPr lang="en-US" sz="1050" dirty="0"/>
          </a:p>
        </p:txBody>
      </p:sp>
      <p:sp>
        <p:nvSpPr>
          <p:cNvPr id="20" name="Text 17"/>
          <p:cNvSpPr/>
          <p:nvPr/>
        </p:nvSpPr>
        <p:spPr>
          <a:xfrm>
            <a:off x="9997440" y="2962656"/>
            <a:ext cx="1005840" cy="365760"/>
          </a:xfrm>
          <a:prstGeom prst="rect">
            <a:avLst/>
          </a:prstGeom>
          <a:noFill/>
          <a:ln/>
        </p:spPr>
        <p:txBody>
          <a:bodyPr wrap="square" lIns="0" tIns="0" rIns="0" bIns="0" rtlCol="0" anchor="ctr"/>
          <a:lstStyle/>
          <a:p>
            <a:pPr marL="0" indent="0">
              <a:buNone/>
            </a:pPr>
            <a:r>
              <a:rPr lang="en-US" sz="1050" dirty="0">
                <a:solidFill>
                  <a:srgbClr val="0E7C86"/>
                </a:solidFill>
                <a:latin typeface="Courier New" pitchFamily="34" charset="0"/>
                <a:ea typeface="Courier New" pitchFamily="34" charset="-122"/>
                <a:cs typeface="Courier New" pitchFamily="34" charset="-120"/>
              </a:rPr>
              <a:t>0.623</a:t>
            </a:r>
            <a:endParaRPr lang="en-US" sz="1050" dirty="0"/>
          </a:p>
        </p:txBody>
      </p:sp>
      <p:sp>
        <p:nvSpPr>
          <p:cNvPr id="21" name="Text 18"/>
          <p:cNvSpPr/>
          <p:nvPr/>
        </p:nvSpPr>
        <p:spPr>
          <a:xfrm>
            <a:off x="7254240" y="3328416"/>
            <a:ext cx="1600200" cy="365760"/>
          </a:xfrm>
          <a:prstGeom prst="rect">
            <a:avLst/>
          </a:prstGeom>
          <a:noFill/>
          <a:ln/>
        </p:spPr>
        <p:txBody>
          <a:bodyPr wrap="square" lIns="0" tIns="0" rIns="0" bIns="0" rtlCol="0" anchor="ctr"/>
          <a:lstStyle/>
          <a:p>
            <a:pPr marL="0" indent="0">
              <a:buNone/>
            </a:pPr>
            <a:r>
              <a:rPr lang="en-US" sz="1050" dirty="0">
                <a:solidFill>
                  <a:srgbClr val="2E3F4A"/>
                </a:solidFill>
                <a:latin typeface="Courier New" pitchFamily="34" charset="0"/>
                <a:ea typeface="Courier New" pitchFamily="34" charset="-122"/>
                <a:cs typeface="Courier New" pitchFamily="34" charset="-120"/>
              </a:rPr>
              <a:t>rel_to_layer</a:t>
            </a:r>
            <a:endParaRPr lang="en-US" sz="1050" dirty="0"/>
          </a:p>
        </p:txBody>
      </p:sp>
      <p:sp>
        <p:nvSpPr>
          <p:cNvPr id="22" name="Text 19"/>
          <p:cNvSpPr/>
          <p:nvPr/>
        </p:nvSpPr>
        <p:spPr>
          <a:xfrm>
            <a:off x="8900160" y="3328416"/>
            <a:ext cx="1005840" cy="365760"/>
          </a:xfrm>
          <a:prstGeom prst="rect">
            <a:avLst/>
          </a:prstGeom>
          <a:noFill/>
          <a:ln/>
        </p:spPr>
        <p:txBody>
          <a:bodyPr wrap="square" lIns="0" tIns="0" rIns="0" bIns="0" rtlCol="0" anchor="ctr"/>
          <a:lstStyle/>
          <a:p>
            <a:pPr marL="0" indent="0">
              <a:buNone/>
            </a:pPr>
            <a:r>
              <a:rPr lang="en-US" sz="1050" dirty="0">
                <a:solidFill>
                  <a:srgbClr val="1F2A33"/>
                </a:solidFill>
                <a:latin typeface="Courier New" pitchFamily="34" charset="0"/>
                <a:ea typeface="Courier New" pitchFamily="34" charset="-122"/>
                <a:cs typeface="Courier New" pitchFamily="34" charset="-120"/>
              </a:rPr>
              <a:t>0.97</a:t>
            </a:r>
            <a:endParaRPr lang="en-US" sz="1050" dirty="0"/>
          </a:p>
        </p:txBody>
      </p:sp>
      <p:sp>
        <p:nvSpPr>
          <p:cNvPr id="23" name="Text 20"/>
          <p:cNvSpPr/>
          <p:nvPr/>
        </p:nvSpPr>
        <p:spPr>
          <a:xfrm>
            <a:off x="9997440" y="3328416"/>
            <a:ext cx="1005840" cy="365760"/>
          </a:xfrm>
          <a:prstGeom prst="rect">
            <a:avLst/>
          </a:prstGeom>
          <a:noFill/>
          <a:ln/>
        </p:spPr>
        <p:txBody>
          <a:bodyPr wrap="square" lIns="0" tIns="0" rIns="0" bIns="0" rtlCol="0" anchor="ctr"/>
          <a:lstStyle/>
          <a:p>
            <a:pPr marL="0" indent="0">
              <a:buNone/>
            </a:pPr>
            <a:r>
              <a:rPr lang="en-US" sz="1050" dirty="0">
                <a:solidFill>
                  <a:srgbClr val="0E7C86"/>
                </a:solidFill>
                <a:latin typeface="Courier New" pitchFamily="34" charset="0"/>
                <a:ea typeface="Courier New" pitchFamily="34" charset="-122"/>
                <a:cs typeface="Courier New" pitchFamily="34" charset="-120"/>
              </a:rPr>
              <a:t>0.99</a:t>
            </a:r>
            <a:endParaRPr lang="en-US" sz="1050" dirty="0"/>
          </a:p>
        </p:txBody>
      </p:sp>
      <p:sp>
        <p:nvSpPr>
          <p:cNvPr id="24" name="Shape 21"/>
          <p:cNvSpPr/>
          <p:nvPr/>
        </p:nvSpPr>
        <p:spPr>
          <a:xfrm>
            <a:off x="7117080" y="3694176"/>
            <a:ext cx="4023360" cy="365760"/>
          </a:xfrm>
          <a:prstGeom prst="roundRect">
            <a:avLst>
              <a:gd name="adj" fmla="val 15000"/>
            </a:avLst>
          </a:prstGeom>
          <a:solidFill>
            <a:srgbClr val="F1F4F5"/>
          </a:solidFill>
          <a:ln w="9525">
            <a:solidFill>
              <a:srgbClr val="E2E7E9"/>
            </a:solidFill>
            <a:prstDash val="solid"/>
          </a:ln>
        </p:spPr>
        <p:txBody>
          <a:bodyPr/>
          <a:lstStyle/>
          <a:p>
            <a:endParaRPr lang="en-US"/>
          </a:p>
        </p:txBody>
      </p:sp>
      <p:sp>
        <p:nvSpPr>
          <p:cNvPr id="25" name="Text 22"/>
          <p:cNvSpPr/>
          <p:nvPr/>
        </p:nvSpPr>
        <p:spPr>
          <a:xfrm>
            <a:off x="7254240" y="3694176"/>
            <a:ext cx="1600200" cy="365760"/>
          </a:xfrm>
          <a:prstGeom prst="rect">
            <a:avLst/>
          </a:prstGeom>
          <a:noFill/>
          <a:ln/>
        </p:spPr>
        <p:txBody>
          <a:bodyPr wrap="square" lIns="0" tIns="0" rIns="0" bIns="0" rtlCol="0" anchor="ctr"/>
          <a:lstStyle/>
          <a:p>
            <a:pPr marL="0" indent="0">
              <a:buNone/>
            </a:pPr>
            <a:r>
              <a:rPr lang="en-US" sz="1050" dirty="0">
                <a:solidFill>
                  <a:srgbClr val="2E3F4A"/>
                </a:solidFill>
                <a:latin typeface="Courier New" pitchFamily="34" charset="0"/>
                <a:ea typeface="Courier New" pitchFamily="34" charset="-122"/>
                <a:cs typeface="Courier New" pitchFamily="34" charset="-120"/>
              </a:rPr>
              <a:t>cv</a:t>
            </a:r>
            <a:endParaRPr lang="en-US" sz="1050" dirty="0"/>
          </a:p>
        </p:txBody>
      </p:sp>
      <p:sp>
        <p:nvSpPr>
          <p:cNvPr id="26" name="Text 23"/>
          <p:cNvSpPr/>
          <p:nvPr/>
        </p:nvSpPr>
        <p:spPr>
          <a:xfrm>
            <a:off x="8900160" y="3694176"/>
            <a:ext cx="1005840" cy="365760"/>
          </a:xfrm>
          <a:prstGeom prst="rect">
            <a:avLst/>
          </a:prstGeom>
          <a:noFill/>
          <a:ln/>
        </p:spPr>
        <p:txBody>
          <a:bodyPr wrap="square" lIns="0" tIns="0" rIns="0" bIns="0" rtlCol="0" anchor="ctr"/>
          <a:lstStyle/>
          <a:p>
            <a:pPr marL="0" indent="0">
              <a:buNone/>
            </a:pPr>
            <a:r>
              <a:rPr lang="en-US" sz="1050" dirty="0">
                <a:solidFill>
                  <a:srgbClr val="1F2A33"/>
                </a:solidFill>
                <a:latin typeface="Courier New" pitchFamily="34" charset="0"/>
                <a:ea typeface="Courier New" pitchFamily="34" charset="-122"/>
                <a:cs typeface="Courier New" pitchFamily="34" charset="-120"/>
              </a:rPr>
              <a:t>0.98</a:t>
            </a:r>
            <a:endParaRPr lang="en-US" sz="1050" dirty="0"/>
          </a:p>
        </p:txBody>
      </p:sp>
      <p:sp>
        <p:nvSpPr>
          <p:cNvPr id="27" name="Text 24"/>
          <p:cNvSpPr/>
          <p:nvPr/>
        </p:nvSpPr>
        <p:spPr>
          <a:xfrm>
            <a:off x="9997440" y="3694176"/>
            <a:ext cx="1005840" cy="365760"/>
          </a:xfrm>
          <a:prstGeom prst="rect">
            <a:avLst/>
          </a:prstGeom>
          <a:noFill/>
          <a:ln/>
        </p:spPr>
        <p:txBody>
          <a:bodyPr wrap="square" lIns="0" tIns="0" rIns="0" bIns="0" rtlCol="0" anchor="ctr"/>
          <a:lstStyle/>
          <a:p>
            <a:pPr marL="0" indent="0">
              <a:buNone/>
            </a:pPr>
            <a:r>
              <a:rPr lang="en-US" sz="1050" dirty="0">
                <a:solidFill>
                  <a:srgbClr val="0E7C86"/>
                </a:solidFill>
                <a:latin typeface="Courier New" pitchFamily="34" charset="0"/>
                <a:ea typeface="Courier New" pitchFamily="34" charset="-122"/>
                <a:cs typeface="Courier New" pitchFamily="34" charset="-120"/>
              </a:rPr>
              <a:t>1.00</a:t>
            </a:r>
            <a:endParaRPr lang="en-US" sz="1050" dirty="0"/>
          </a:p>
        </p:txBody>
      </p:sp>
      <p:sp>
        <p:nvSpPr>
          <p:cNvPr id="28" name="Text 25"/>
          <p:cNvSpPr/>
          <p:nvPr/>
        </p:nvSpPr>
        <p:spPr>
          <a:xfrm>
            <a:off x="7117080" y="4123944"/>
            <a:ext cx="4023360" cy="365760"/>
          </a:xfrm>
          <a:prstGeom prst="rect">
            <a:avLst/>
          </a:prstGeom>
          <a:noFill/>
          <a:ln/>
        </p:spPr>
        <p:txBody>
          <a:bodyPr wrap="square" lIns="0" tIns="0" rIns="0" bIns="0" rtlCol="0" anchor="ctr"/>
          <a:lstStyle/>
          <a:p>
            <a:pPr marL="0" indent="0">
              <a:buNone/>
            </a:pPr>
            <a:r>
              <a:rPr lang="en-US" sz="1100" dirty="0">
                <a:solidFill>
                  <a:srgbClr val="2E3F4A"/>
                </a:solidFill>
                <a:latin typeface="Calibri" pitchFamily="34" charset="0"/>
                <a:ea typeface="Calibri" pitchFamily="34" charset="-122"/>
                <a:cs typeface="Calibri" pitchFamily="34" charset="-120"/>
              </a:rPr>
              <a:t>A third of the charge, and both references read the same.</a:t>
            </a:r>
            <a:endParaRPr lang="en-US" sz="1100" dirty="0"/>
          </a:p>
        </p:txBody>
      </p:sp>
      <p:sp>
        <p:nvSpPr>
          <p:cNvPr id="29" name="Text 26"/>
          <p:cNvSpPr/>
          <p:nvPr/>
        </p:nvSpPr>
        <p:spPr>
          <a:xfrm>
            <a:off x="7117080" y="4489704"/>
            <a:ext cx="4023360" cy="502920"/>
          </a:xfrm>
          <a:prstGeom prst="rect">
            <a:avLst/>
          </a:prstGeom>
          <a:noFill/>
          <a:ln/>
        </p:spPr>
        <p:txBody>
          <a:bodyPr wrap="square" lIns="0" tIns="0" rIns="0" bIns="0" rtlCol="0" anchor="ctr"/>
          <a:lstStyle/>
          <a:p>
            <a:pPr marL="0" indent="0">
              <a:buNone/>
            </a:pPr>
            <a:r>
              <a:rPr lang="en-US" sz="1050" dirty="0">
                <a:solidFill>
                  <a:srgbClr val="6B7A83"/>
                </a:solidFill>
                <a:latin typeface="Calibri" pitchFamily="34" charset="0"/>
                <a:ea typeface="Calibri" pitchFamily="34" charset="-122"/>
                <a:cs typeface="Calibri" pitchFamily="34" charset="-120"/>
              </a:rPr>
              <a:t>Flag counts still differ between periods — that is the detector changing, not the brightness.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384048"/>
            <a:ext cx="10058400" cy="256032"/>
          </a:xfrm>
          <a:prstGeom prst="rect">
            <a:avLst/>
          </a:prstGeom>
          <a:noFill/>
          <a:ln/>
        </p:spPr>
        <p:txBody>
          <a:bodyPr wrap="square" rtlCol="0" anchor="ctr"/>
          <a:lstStyle/>
          <a:p>
            <a:pPr marL="0" indent="0">
              <a:buNone/>
            </a:pPr>
            <a:r>
              <a:rPr lang="en-US" sz="1200" b="1" kern="0" spc="200" dirty="0">
                <a:solidFill>
                  <a:srgbClr val="0E7C86"/>
                </a:solidFill>
                <a:latin typeface="Arial" pitchFamily="34" charset="0"/>
                <a:ea typeface="Arial" pitchFamily="34" charset="-122"/>
                <a:cs typeface="Arial" pitchFamily="34" charset="-120"/>
              </a:rPr>
              <a:t>RESULTS</a:t>
            </a:r>
            <a:endParaRPr lang="en-US" sz="1200" dirty="0"/>
          </a:p>
        </p:txBody>
      </p:sp>
      <p:sp>
        <p:nvSpPr>
          <p:cNvPr id="3" name="Text 1"/>
          <p:cNvSpPr/>
          <p:nvPr/>
        </p:nvSpPr>
        <p:spPr>
          <a:xfrm>
            <a:off x="640080" y="658368"/>
            <a:ext cx="10972800" cy="566928"/>
          </a:xfrm>
          <a:prstGeom prst="rect">
            <a:avLst/>
          </a:prstGeom>
          <a:noFill/>
          <a:ln/>
        </p:spPr>
        <p:txBody>
          <a:bodyPr wrap="square" rtlCol="0" anchor="ctr"/>
          <a:lstStyle/>
          <a:p>
            <a:pPr marL="0" indent="0">
              <a:buNone/>
            </a:pPr>
            <a:r>
              <a:rPr lang="en-US" sz="3000" b="1" dirty="0">
                <a:solidFill>
                  <a:srgbClr val="1F2A33"/>
                </a:solidFill>
                <a:latin typeface="Cambria" pitchFamily="34" charset="0"/>
                <a:ea typeface="Cambria" pitchFamily="34" charset="-122"/>
                <a:cs typeface="Cambria" pitchFamily="34" charset="-120"/>
              </a:rPr>
              <a:t>Across the campaign</a:t>
            </a:r>
            <a:endParaRPr lang="en-US" sz="3000" dirty="0"/>
          </a:p>
        </p:txBody>
      </p:sp>
      <p:pic>
        <p:nvPicPr>
          <p:cNvPr id="4" name="Image 0" descr="/sessions/amazing-upbeat-pasteur/mnt/deadChannel-ALERT-CLAS12/bad_per_run.png"/>
          <p:cNvPicPr>
            <a:picLocks noChangeAspect="1"/>
          </p:cNvPicPr>
          <p:nvPr/>
        </p:nvPicPr>
        <p:blipFill>
          <a:blip r:embed="rId3"/>
          <a:stretch>
            <a:fillRect/>
          </a:stretch>
        </p:blipFill>
        <p:spPr>
          <a:xfrm>
            <a:off x="640080" y="1325880"/>
            <a:ext cx="7315200" cy="3931920"/>
          </a:xfrm>
          <a:prstGeom prst="rect">
            <a:avLst/>
          </a:prstGeom>
        </p:spPr>
      </p:pic>
      <p:sp>
        <p:nvSpPr>
          <p:cNvPr id="5" name="Text 2"/>
          <p:cNvSpPr/>
          <p:nvPr/>
        </p:nvSpPr>
        <p:spPr>
          <a:xfrm>
            <a:off x="640080" y="5321808"/>
            <a:ext cx="7315200" cy="822960"/>
          </a:xfrm>
          <a:prstGeom prst="rect">
            <a:avLst/>
          </a:prstGeom>
          <a:noFill/>
          <a:ln/>
        </p:spPr>
        <p:txBody>
          <a:bodyPr wrap="square" rtlCol="0" anchor="ctr"/>
          <a:lstStyle/>
          <a:p>
            <a:pPr marL="0" indent="0">
              <a:buNone/>
            </a:pPr>
            <a:r>
              <a:rPr lang="en-US" sz="1000" dirty="0">
                <a:solidFill>
                  <a:srgbClr val="6B7A83"/>
                </a:solidFill>
                <a:latin typeface="Calibri" pitchFamily="34" charset="0"/>
                <a:ea typeface="Calibri" pitchFamily="34" charset="-122"/>
                <a:cs typeface="Calibri" pitchFamily="34" charset="-120"/>
              </a:rPr>
              <a:t>The five lines are the five statuses and sum to the red points run by run. Flat stretches are stable periods; the steps between them are the runs to look up in the logbook. Grey bands: 109 runs reading far from the campaign level (107 low, median wire at ~3 % of usual; 2 high) — why is not in this data, and their numbers are 1.6× noisier, so their counts are shown but not trusted.</a:t>
            </a:r>
            <a:endParaRPr lang="en-US" sz="1000" dirty="0"/>
          </a:p>
        </p:txBody>
      </p:sp>
      <p:sp>
        <p:nvSpPr>
          <p:cNvPr id="6" name="Text 3"/>
          <p:cNvSpPr/>
          <p:nvPr/>
        </p:nvSpPr>
        <p:spPr>
          <a:xfrm>
            <a:off x="8366760" y="1325880"/>
            <a:ext cx="868680" cy="384048"/>
          </a:xfrm>
          <a:prstGeom prst="rect">
            <a:avLst/>
          </a:prstGeom>
          <a:noFill/>
          <a:ln/>
        </p:spPr>
        <p:txBody>
          <a:bodyPr wrap="square" lIns="0" tIns="0" rIns="0" bIns="0" rtlCol="0" anchor="ctr"/>
          <a:lstStyle/>
          <a:p>
            <a:pPr marL="0" indent="0">
              <a:buNone/>
            </a:pPr>
            <a:r>
              <a:rPr lang="en-US" sz="950" b="1" dirty="0">
                <a:solidFill>
                  <a:srgbClr val="6B7A83"/>
                </a:solidFill>
                <a:latin typeface="Calibri" pitchFamily="34" charset="0"/>
                <a:ea typeface="Calibri" pitchFamily="34" charset="-122"/>
                <a:cs typeface="Calibri" pitchFamily="34" charset="-120"/>
              </a:rPr>
              <a:t>run</a:t>
            </a:r>
            <a:endParaRPr lang="en-US" sz="950" dirty="0"/>
          </a:p>
        </p:txBody>
      </p:sp>
      <p:sp>
        <p:nvSpPr>
          <p:cNvPr id="7" name="Text 4"/>
          <p:cNvSpPr/>
          <p:nvPr/>
        </p:nvSpPr>
        <p:spPr>
          <a:xfrm>
            <a:off x="9281160" y="1325880"/>
            <a:ext cx="914400" cy="384048"/>
          </a:xfrm>
          <a:prstGeom prst="rect">
            <a:avLst/>
          </a:prstGeom>
          <a:noFill/>
          <a:ln/>
        </p:spPr>
        <p:txBody>
          <a:bodyPr wrap="square" lIns="0" tIns="0" rIns="0" bIns="0" rtlCol="0" anchor="ctr"/>
          <a:lstStyle/>
          <a:p>
            <a:pPr marL="0" indent="0">
              <a:buNone/>
            </a:pPr>
            <a:r>
              <a:rPr lang="en-US" sz="950" b="1" dirty="0">
                <a:solidFill>
                  <a:srgbClr val="6B7A83"/>
                </a:solidFill>
                <a:latin typeface="Calibri" pitchFamily="34" charset="0"/>
                <a:ea typeface="Calibri" pitchFamily="34" charset="-122"/>
                <a:cs typeface="Calibri" pitchFamily="34" charset="-120"/>
              </a:rPr>
              <a:t>bright</a:t>
            </a:r>
            <a:endParaRPr lang="en-US" sz="950" dirty="0"/>
          </a:p>
        </p:txBody>
      </p:sp>
      <p:sp>
        <p:nvSpPr>
          <p:cNvPr id="8" name="Text 5"/>
          <p:cNvSpPr/>
          <p:nvPr/>
        </p:nvSpPr>
        <p:spPr>
          <a:xfrm>
            <a:off x="10332720" y="1325880"/>
            <a:ext cx="640080" cy="384048"/>
          </a:xfrm>
          <a:prstGeom prst="rect">
            <a:avLst/>
          </a:prstGeom>
          <a:noFill/>
          <a:ln/>
        </p:spPr>
        <p:txBody>
          <a:bodyPr wrap="square" lIns="0" tIns="0" rIns="0" bIns="0" rtlCol="0" anchor="ctr"/>
          <a:lstStyle/>
          <a:p>
            <a:pPr marL="0" indent="0">
              <a:buNone/>
            </a:pPr>
            <a:r>
              <a:rPr lang="en-US" sz="950" b="1" dirty="0">
                <a:solidFill>
                  <a:srgbClr val="6B7A83"/>
                </a:solidFill>
                <a:latin typeface="Calibri" pitchFamily="34" charset="0"/>
                <a:ea typeface="Calibri" pitchFamily="34" charset="-122"/>
                <a:cs typeface="Calibri" pitchFamily="34" charset="-120"/>
              </a:rPr>
              <a:t>bad</a:t>
            </a:r>
            <a:endParaRPr lang="en-US" sz="950" dirty="0"/>
          </a:p>
        </p:txBody>
      </p:sp>
      <p:sp>
        <p:nvSpPr>
          <p:cNvPr id="9" name="Shape 6"/>
          <p:cNvSpPr/>
          <p:nvPr/>
        </p:nvSpPr>
        <p:spPr>
          <a:xfrm>
            <a:off x="8229600" y="1673352"/>
            <a:ext cx="3291840" cy="384048"/>
          </a:xfrm>
          <a:prstGeom prst="roundRect">
            <a:avLst>
              <a:gd name="adj" fmla="val 14286"/>
            </a:avLst>
          </a:prstGeom>
          <a:solidFill>
            <a:srgbClr val="F1F4F5"/>
          </a:solidFill>
          <a:ln w="9525">
            <a:solidFill>
              <a:srgbClr val="E2E7E9"/>
            </a:solidFill>
            <a:prstDash val="solid"/>
          </a:ln>
        </p:spPr>
        <p:txBody>
          <a:bodyPr/>
          <a:lstStyle/>
          <a:p>
            <a:endParaRPr lang="en-US"/>
          </a:p>
        </p:txBody>
      </p:sp>
      <p:sp>
        <p:nvSpPr>
          <p:cNvPr id="10" name="Text 7"/>
          <p:cNvSpPr/>
          <p:nvPr/>
        </p:nvSpPr>
        <p:spPr>
          <a:xfrm>
            <a:off x="8366760" y="1673352"/>
            <a:ext cx="868680" cy="384048"/>
          </a:xfrm>
          <a:prstGeom prst="rect">
            <a:avLst/>
          </a:prstGeom>
          <a:noFill/>
          <a:ln/>
        </p:spPr>
        <p:txBody>
          <a:bodyPr wrap="square" lIns="0" tIns="0" rIns="0" bIns="0" rtlCol="0" anchor="ctr"/>
          <a:lstStyle/>
          <a:p>
            <a:pPr marL="0" indent="0">
              <a:buNone/>
            </a:pPr>
            <a:r>
              <a:rPr lang="en-US" sz="1150" dirty="0">
                <a:solidFill>
                  <a:srgbClr val="1F2A33"/>
                </a:solidFill>
                <a:latin typeface="Courier New" pitchFamily="34" charset="0"/>
                <a:ea typeface="Courier New" pitchFamily="34" charset="-122"/>
                <a:cs typeface="Courier New" pitchFamily="34" charset="-120"/>
              </a:rPr>
              <a:t>21697</a:t>
            </a:r>
            <a:endParaRPr lang="en-US" sz="1150" dirty="0"/>
          </a:p>
        </p:txBody>
      </p:sp>
      <p:sp>
        <p:nvSpPr>
          <p:cNvPr id="11" name="Text 8"/>
          <p:cNvSpPr/>
          <p:nvPr/>
        </p:nvSpPr>
        <p:spPr>
          <a:xfrm>
            <a:off x="9281160" y="1673352"/>
            <a:ext cx="914400" cy="384048"/>
          </a:xfrm>
          <a:prstGeom prst="rect">
            <a:avLst/>
          </a:prstGeom>
          <a:noFill/>
          <a:ln/>
        </p:spPr>
        <p:txBody>
          <a:bodyPr wrap="square" lIns="0" tIns="0" rIns="0" bIns="0" rtlCol="0" anchor="ctr"/>
          <a:lstStyle/>
          <a:p>
            <a:pPr marL="0" indent="0">
              <a:buNone/>
            </a:pPr>
            <a:r>
              <a:rPr lang="en-US" sz="1150" dirty="0">
                <a:solidFill>
                  <a:srgbClr val="1F2A33"/>
                </a:solidFill>
                <a:latin typeface="Courier New" pitchFamily="34" charset="0"/>
                <a:ea typeface="Courier New" pitchFamily="34" charset="-122"/>
                <a:cs typeface="Courier New" pitchFamily="34" charset="-120"/>
              </a:rPr>
              <a:t>0.63</a:t>
            </a:r>
            <a:endParaRPr lang="en-US" sz="1150" dirty="0"/>
          </a:p>
        </p:txBody>
      </p:sp>
      <p:sp>
        <p:nvSpPr>
          <p:cNvPr id="12" name="Text 9"/>
          <p:cNvSpPr/>
          <p:nvPr/>
        </p:nvSpPr>
        <p:spPr>
          <a:xfrm>
            <a:off x="10332720" y="1673352"/>
            <a:ext cx="640080" cy="384048"/>
          </a:xfrm>
          <a:prstGeom prst="rect">
            <a:avLst/>
          </a:prstGeom>
          <a:noFill/>
          <a:ln/>
        </p:spPr>
        <p:txBody>
          <a:bodyPr wrap="square" lIns="0" tIns="0" rIns="0" bIns="0" rtlCol="0" anchor="ctr"/>
          <a:lstStyle/>
          <a:p>
            <a:pPr marL="0" indent="0">
              <a:buNone/>
            </a:pPr>
            <a:r>
              <a:rPr lang="en-US" sz="1150" dirty="0">
                <a:solidFill>
                  <a:srgbClr val="1F2A33"/>
                </a:solidFill>
                <a:latin typeface="Courier New" pitchFamily="34" charset="0"/>
                <a:ea typeface="Courier New" pitchFamily="34" charset="-122"/>
                <a:cs typeface="Courier New" pitchFamily="34" charset="-120"/>
              </a:rPr>
              <a:t>95</a:t>
            </a:r>
            <a:endParaRPr lang="en-US" sz="1150" dirty="0"/>
          </a:p>
        </p:txBody>
      </p:sp>
      <p:sp>
        <p:nvSpPr>
          <p:cNvPr id="13" name="Text 10"/>
          <p:cNvSpPr/>
          <p:nvPr/>
        </p:nvSpPr>
        <p:spPr>
          <a:xfrm>
            <a:off x="8366760" y="2057400"/>
            <a:ext cx="868680" cy="384048"/>
          </a:xfrm>
          <a:prstGeom prst="rect">
            <a:avLst/>
          </a:prstGeom>
          <a:noFill/>
          <a:ln/>
        </p:spPr>
        <p:txBody>
          <a:bodyPr wrap="square" lIns="0" tIns="0" rIns="0" bIns="0" rtlCol="0" anchor="ctr"/>
          <a:lstStyle/>
          <a:p>
            <a:pPr marL="0" indent="0">
              <a:buNone/>
            </a:pPr>
            <a:r>
              <a:rPr lang="en-US" sz="1150" dirty="0">
                <a:solidFill>
                  <a:srgbClr val="1F2A33"/>
                </a:solidFill>
                <a:latin typeface="Courier New" pitchFamily="34" charset="0"/>
                <a:ea typeface="Courier New" pitchFamily="34" charset="-122"/>
                <a:cs typeface="Courier New" pitchFamily="34" charset="-120"/>
              </a:rPr>
              <a:t>22249</a:t>
            </a:r>
            <a:endParaRPr lang="en-US" sz="1150" dirty="0"/>
          </a:p>
        </p:txBody>
      </p:sp>
      <p:sp>
        <p:nvSpPr>
          <p:cNvPr id="14" name="Text 11"/>
          <p:cNvSpPr/>
          <p:nvPr/>
        </p:nvSpPr>
        <p:spPr>
          <a:xfrm>
            <a:off x="9281160" y="2057400"/>
            <a:ext cx="914400" cy="384048"/>
          </a:xfrm>
          <a:prstGeom prst="rect">
            <a:avLst/>
          </a:prstGeom>
          <a:noFill/>
          <a:ln/>
        </p:spPr>
        <p:txBody>
          <a:bodyPr wrap="square" lIns="0" tIns="0" rIns="0" bIns="0" rtlCol="0" anchor="ctr"/>
          <a:lstStyle/>
          <a:p>
            <a:pPr marL="0" indent="0">
              <a:buNone/>
            </a:pPr>
            <a:r>
              <a:rPr lang="en-US" sz="1150" dirty="0">
                <a:solidFill>
                  <a:srgbClr val="1F2A33"/>
                </a:solidFill>
                <a:latin typeface="Courier New" pitchFamily="34" charset="0"/>
                <a:ea typeface="Courier New" pitchFamily="34" charset="-122"/>
                <a:cs typeface="Courier New" pitchFamily="34" charset="-120"/>
              </a:rPr>
              <a:t>1.09</a:t>
            </a:r>
            <a:endParaRPr lang="en-US" sz="1150" dirty="0"/>
          </a:p>
        </p:txBody>
      </p:sp>
      <p:sp>
        <p:nvSpPr>
          <p:cNvPr id="15" name="Text 12"/>
          <p:cNvSpPr/>
          <p:nvPr/>
        </p:nvSpPr>
        <p:spPr>
          <a:xfrm>
            <a:off x="10332720" y="2057400"/>
            <a:ext cx="640080" cy="384048"/>
          </a:xfrm>
          <a:prstGeom prst="rect">
            <a:avLst/>
          </a:prstGeom>
          <a:noFill/>
          <a:ln/>
        </p:spPr>
        <p:txBody>
          <a:bodyPr wrap="square" lIns="0" tIns="0" rIns="0" bIns="0" rtlCol="0" anchor="ctr"/>
          <a:lstStyle/>
          <a:p>
            <a:pPr marL="0" indent="0">
              <a:buNone/>
            </a:pPr>
            <a:r>
              <a:rPr lang="en-US" sz="1150" dirty="0">
                <a:solidFill>
                  <a:srgbClr val="1F2A33"/>
                </a:solidFill>
                <a:latin typeface="Courier New" pitchFamily="34" charset="0"/>
                <a:ea typeface="Courier New" pitchFamily="34" charset="-122"/>
                <a:cs typeface="Courier New" pitchFamily="34" charset="-120"/>
              </a:rPr>
              <a:t>4</a:t>
            </a:r>
            <a:endParaRPr lang="en-US" sz="1150" dirty="0"/>
          </a:p>
        </p:txBody>
      </p:sp>
      <p:sp>
        <p:nvSpPr>
          <p:cNvPr id="16" name="Shape 13"/>
          <p:cNvSpPr/>
          <p:nvPr/>
        </p:nvSpPr>
        <p:spPr>
          <a:xfrm>
            <a:off x="8229600" y="2441448"/>
            <a:ext cx="3291840" cy="384048"/>
          </a:xfrm>
          <a:prstGeom prst="roundRect">
            <a:avLst>
              <a:gd name="adj" fmla="val 14286"/>
            </a:avLst>
          </a:prstGeom>
          <a:solidFill>
            <a:srgbClr val="F1F4F5"/>
          </a:solidFill>
          <a:ln w="9525">
            <a:solidFill>
              <a:srgbClr val="E2E7E9"/>
            </a:solidFill>
            <a:prstDash val="solid"/>
          </a:ln>
        </p:spPr>
        <p:txBody>
          <a:bodyPr/>
          <a:lstStyle/>
          <a:p>
            <a:endParaRPr lang="en-US"/>
          </a:p>
        </p:txBody>
      </p:sp>
      <p:sp>
        <p:nvSpPr>
          <p:cNvPr id="17" name="Text 14"/>
          <p:cNvSpPr/>
          <p:nvPr/>
        </p:nvSpPr>
        <p:spPr>
          <a:xfrm>
            <a:off x="8366760" y="2441448"/>
            <a:ext cx="868680" cy="384048"/>
          </a:xfrm>
          <a:prstGeom prst="rect">
            <a:avLst/>
          </a:prstGeom>
          <a:noFill/>
          <a:ln/>
        </p:spPr>
        <p:txBody>
          <a:bodyPr wrap="square" lIns="0" tIns="0" rIns="0" bIns="0" rtlCol="0" anchor="ctr"/>
          <a:lstStyle/>
          <a:p>
            <a:pPr marL="0" indent="0">
              <a:buNone/>
            </a:pPr>
            <a:r>
              <a:rPr lang="en-US" sz="1150" dirty="0">
                <a:solidFill>
                  <a:srgbClr val="1F2A33"/>
                </a:solidFill>
                <a:latin typeface="Courier New" pitchFamily="34" charset="0"/>
                <a:ea typeface="Courier New" pitchFamily="34" charset="-122"/>
                <a:cs typeface="Courier New" pitchFamily="34" charset="-120"/>
              </a:rPr>
              <a:t>22603</a:t>
            </a:r>
            <a:endParaRPr lang="en-US" sz="1150" dirty="0"/>
          </a:p>
        </p:txBody>
      </p:sp>
      <p:sp>
        <p:nvSpPr>
          <p:cNvPr id="18" name="Text 15"/>
          <p:cNvSpPr/>
          <p:nvPr/>
        </p:nvSpPr>
        <p:spPr>
          <a:xfrm>
            <a:off x="9281160" y="2441448"/>
            <a:ext cx="914400" cy="384048"/>
          </a:xfrm>
          <a:prstGeom prst="rect">
            <a:avLst/>
          </a:prstGeom>
          <a:noFill/>
          <a:ln/>
        </p:spPr>
        <p:txBody>
          <a:bodyPr wrap="square" lIns="0" tIns="0" rIns="0" bIns="0" rtlCol="0" anchor="ctr"/>
          <a:lstStyle/>
          <a:p>
            <a:pPr marL="0" indent="0">
              <a:buNone/>
            </a:pPr>
            <a:r>
              <a:rPr lang="en-US" sz="1150" dirty="0">
                <a:solidFill>
                  <a:srgbClr val="1F2A33"/>
                </a:solidFill>
                <a:latin typeface="Courier New" pitchFamily="34" charset="0"/>
                <a:ea typeface="Courier New" pitchFamily="34" charset="-122"/>
                <a:cs typeface="Courier New" pitchFamily="34" charset="-120"/>
              </a:rPr>
              <a:t>0.99</a:t>
            </a:r>
            <a:endParaRPr lang="en-US" sz="1150" dirty="0"/>
          </a:p>
        </p:txBody>
      </p:sp>
      <p:sp>
        <p:nvSpPr>
          <p:cNvPr id="19" name="Text 16"/>
          <p:cNvSpPr/>
          <p:nvPr/>
        </p:nvSpPr>
        <p:spPr>
          <a:xfrm>
            <a:off x="10332720" y="2441448"/>
            <a:ext cx="640080" cy="384048"/>
          </a:xfrm>
          <a:prstGeom prst="rect">
            <a:avLst/>
          </a:prstGeom>
          <a:noFill/>
          <a:ln/>
        </p:spPr>
        <p:txBody>
          <a:bodyPr wrap="square" lIns="0" tIns="0" rIns="0" bIns="0" rtlCol="0" anchor="ctr"/>
          <a:lstStyle/>
          <a:p>
            <a:pPr marL="0" indent="0">
              <a:buNone/>
            </a:pPr>
            <a:r>
              <a:rPr lang="en-US" sz="1150" dirty="0">
                <a:solidFill>
                  <a:srgbClr val="1F2A33"/>
                </a:solidFill>
                <a:latin typeface="Courier New" pitchFamily="34" charset="0"/>
                <a:ea typeface="Courier New" pitchFamily="34" charset="-122"/>
                <a:cs typeface="Courier New" pitchFamily="34" charset="-120"/>
              </a:rPr>
              <a:t>13</a:t>
            </a:r>
            <a:endParaRPr lang="en-US" sz="1150" dirty="0"/>
          </a:p>
        </p:txBody>
      </p:sp>
      <p:sp>
        <p:nvSpPr>
          <p:cNvPr id="20" name="Text 17"/>
          <p:cNvSpPr/>
          <p:nvPr/>
        </p:nvSpPr>
        <p:spPr>
          <a:xfrm>
            <a:off x="8366760" y="2825496"/>
            <a:ext cx="868680" cy="384048"/>
          </a:xfrm>
          <a:prstGeom prst="rect">
            <a:avLst/>
          </a:prstGeom>
          <a:noFill/>
          <a:ln/>
        </p:spPr>
        <p:txBody>
          <a:bodyPr wrap="square" lIns="0" tIns="0" rIns="0" bIns="0" rtlCol="0" anchor="ctr"/>
          <a:lstStyle/>
          <a:p>
            <a:pPr marL="0" indent="0">
              <a:buNone/>
            </a:pPr>
            <a:r>
              <a:rPr lang="en-US" sz="1150" dirty="0">
                <a:solidFill>
                  <a:srgbClr val="1F2A33"/>
                </a:solidFill>
                <a:latin typeface="Courier New" pitchFamily="34" charset="0"/>
                <a:ea typeface="Courier New" pitchFamily="34" charset="-122"/>
                <a:cs typeface="Courier New" pitchFamily="34" charset="-120"/>
              </a:rPr>
              <a:t>22897</a:t>
            </a:r>
            <a:endParaRPr lang="en-US" sz="1150" dirty="0"/>
          </a:p>
        </p:txBody>
      </p:sp>
      <p:sp>
        <p:nvSpPr>
          <p:cNvPr id="21" name="Text 18"/>
          <p:cNvSpPr/>
          <p:nvPr/>
        </p:nvSpPr>
        <p:spPr>
          <a:xfrm>
            <a:off x="9281160" y="2825496"/>
            <a:ext cx="914400" cy="384048"/>
          </a:xfrm>
          <a:prstGeom prst="rect">
            <a:avLst/>
          </a:prstGeom>
          <a:noFill/>
          <a:ln/>
        </p:spPr>
        <p:txBody>
          <a:bodyPr wrap="square" lIns="0" tIns="0" rIns="0" bIns="0" rtlCol="0" anchor="ctr"/>
          <a:lstStyle/>
          <a:p>
            <a:pPr marL="0" indent="0">
              <a:buNone/>
            </a:pPr>
            <a:r>
              <a:rPr lang="en-US" sz="1150" dirty="0">
                <a:solidFill>
                  <a:srgbClr val="1F2A33"/>
                </a:solidFill>
                <a:latin typeface="Courier New" pitchFamily="34" charset="0"/>
                <a:ea typeface="Courier New" pitchFamily="34" charset="-122"/>
                <a:cs typeface="Courier New" pitchFamily="34" charset="-120"/>
              </a:rPr>
              <a:t>0.26</a:t>
            </a:r>
            <a:endParaRPr lang="en-US" sz="1150" dirty="0"/>
          </a:p>
        </p:txBody>
      </p:sp>
      <p:sp>
        <p:nvSpPr>
          <p:cNvPr id="22" name="Text 19"/>
          <p:cNvSpPr/>
          <p:nvPr/>
        </p:nvSpPr>
        <p:spPr>
          <a:xfrm>
            <a:off x="10332720" y="2825496"/>
            <a:ext cx="640080" cy="384048"/>
          </a:xfrm>
          <a:prstGeom prst="rect">
            <a:avLst/>
          </a:prstGeom>
          <a:noFill/>
          <a:ln/>
        </p:spPr>
        <p:txBody>
          <a:bodyPr wrap="square" lIns="0" tIns="0" rIns="0" bIns="0" rtlCol="0" anchor="ctr"/>
          <a:lstStyle/>
          <a:p>
            <a:pPr marL="0" indent="0">
              <a:buNone/>
            </a:pPr>
            <a:r>
              <a:rPr lang="en-US" sz="1150" dirty="0">
                <a:solidFill>
                  <a:srgbClr val="1F2A33"/>
                </a:solidFill>
                <a:latin typeface="Courier New" pitchFamily="34" charset="0"/>
                <a:ea typeface="Courier New" pitchFamily="34" charset="-122"/>
                <a:cs typeface="Courier New" pitchFamily="34" charset="-120"/>
              </a:rPr>
              <a:t>3</a:t>
            </a:r>
            <a:endParaRPr lang="en-US" sz="1150" dirty="0"/>
          </a:p>
        </p:txBody>
      </p:sp>
      <p:sp>
        <p:nvSpPr>
          <p:cNvPr id="23" name="Shape 20"/>
          <p:cNvSpPr/>
          <p:nvPr/>
        </p:nvSpPr>
        <p:spPr>
          <a:xfrm>
            <a:off x="8229600" y="3209544"/>
            <a:ext cx="3291840" cy="384048"/>
          </a:xfrm>
          <a:prstGeom prst="roundRect">
            <a:avLst>
              <a:gd name="adj" fmla="val 14286"/>
            </a:avLst>
          </a:prstGeom>
          <a:solidFill>
            <a:srgbClr val="F1F4F5"/>
          </a:solidFill>
          <a:ln w="9525">
            <a:solidFill>
              <a:srgbClr val="E2E7E9"/>
            </a:solidFill>
            <a:prstDash val="solid"/>
          </a:ln>
        </p:spPr>
        <p:txBody>
          <a:bodyPr/>
          <a:lstStyle/>
          <a:p>
            <a:endParaRPr lang="en-US"/>
          </a:p>
        </p:txBody>
      </p:sp>
      <p:sp>
        <p:nvSpPr>
          <p:cNvPr id="24" name="Text 21"/>
          <p:cNvSpPr/>
          <p:nvPr/>
        </p:nvSpPr>
        <p:spPr>
          <a:xfrm>
            <a:off x="8366760" y="3209544"/>
            <a:ext cx="868680" cy="384048"/>
          </a:xfrm>
          <a:prstGeom prst="rect">
            <a:avLst/>
          </a:prstGeom>
          <a:noFill/>
          <a:ln/>
        </p:spPr>
        <p:txBody>
          <a:bodyPr wrap="square" lIns="0" tIns="0" rIns="0" bIns="0" rtlCol="0" anchor="ctr"/>
          <a:lstStyle/>
          <a:p>
            <a:pPr marL="0" indent="0">
              <a:buNone/>
            </a:pPr>
            <a:r>
              <a:rPr lang="en-US" sz="1150" dirty="0">
                <a:solidFill>
                  <a:srgbClr val="1F2A33"/>
                </a:solidFill>
                <a:latin typeface="Courier New" pitchFamily="34" charset="0"/>
                <a:ea typeface="Courier New" pitchFamily="34" charset="-122"/>
                <a:cs typeface="Courier New" pitchFamily="34" charset="-120"/>
              </a:rPr>
              <a:t>23055</a:t>
            </a:r>
            <a:endParaRPr lang="en-US" sz="1150" dirty="0"/>
          </a:p>
        </p:txBody>
      </p:sp>
      <p:sp>
        <p:nvSpPr>
          <p:cNvPr id="25" name="Text 22"/>
          <p:cNvSpPr/>
          <p:nvPr/>
        </p:nvSpPr>
        <p:spPr>
          <a:xfrm>
            <a:off x="9281160" y="3209544"/>
            <a:ext cx="914400" cy="384048"/>
          </a:xfrm>
          <a:prstGeom prst="rect">
            <a:avLst/>
          </a:prstGeom>
          <a:noFill/>
          <a:ln/>
        </p:spPr>
        <p:txBody>
          <a:bodyPr wrap="square" lIns="0" tIns="0" rIns="0" bIns="0" rtlCol="0" anchor="ctr"/>
          <a:lstStyle/>
          <a:p>
            <a:pPr marL="0" indent="0">
              <a:buNone/>
            </a:pPr>
            <a:r>
              <a:rPr lang="en-US" sz="1150" dirty="0">
                <a:solidFill>
                  <a:srgbClr val="1F2A33"/>
                </a:solidFill>
                <a:latin typeface="Courier New" pitchFamily="34" charset="0"/>
                <a:ea typeface="Courier New" pitchFamily="34" charset="-122"/>
                <a:cs typeface="Courier New" pitchFamily="34" charset="-120"/>
              </a:rPr>
              <a:t>0.14</a:t>
            </a:r>
            <a:endParaRPr lang="en-US" sz="1150" dirty="0"/>
          </a:p>
        </p:txBody>
      </p:sp>
      <p:sp>
        <p:nvSpPr>
          <p:cNvPr id="26" name="Text 23"/>
          <p:cNvSpPr/>
          <p:nvPr/>
        </p:nvSpPr>
        <p:spPr>
          <a:xfrm>
            <a:off x="10332720" y="3209544"/>
            <a:ext cx="640080" cy="384048"/>
          </a:xfrm>
          <a:prstGeom prst="rect">
            <a:avLst/>
          </a:prstGeom>
          <a:noFill/>
          <a:ln/>
        </p:spPr>
        <p:txBody>
          <a:bodyPr wrap="square" lIns="0" tIns="0" rIns="0" bIns="0" rtlCol="0" anchor="ctr"/>
          <a:lstStyle/>
          <a:p>
            <a:pPr marL="0" indent="0">
              <a:buNone/>
            </a:pPr>
            <a:r>
              <a:rPr lang="en-US" sz="1150" dirty="0">
                <a:solidFill>
                  <a:srgbClr val="1F2A33"/>
                </a:solidFill>
                <a:latin typeface="Courier New" pitchFamily="34" charset="0"/>
                <a:ea typeface="Courier New" pitchFamily="34" charset="-122"/>
                <a:cs typeface="Courier New" pitchFamily="34" charset="-120"/>
              </a:rPr>
              <a:t>56</a:t>
            </a:r>
            <a:endParaRPr lang="en-US" sz="1150" dirty="0"/>
          </a:p>
        </p:txBody>
      </p:sp>
      <p:sp>
        <p:nvSpPr>
          <p:cNvPr id="27" name="Shape 24"/>
          <p:cNvSpPr/>
          <p:nvPr/>
        </p:nvSpPr>
        <p:spPr>
          <a:xfrm>
            <a:off x="8229600" y="3703320"/>
            <a:ext cx="3291840" cy="1965960"/>
          </a:xfrm>
          <a:prstGeom prst="roundRect">
            <a:avLst>
              <a:gd name="adj" fmla="val 2791"/>
            </a:avLst>
          </a:prstGeom>
          <a:solidFill>
            <a:srgbClr val="F1F4F5"/>
          </a:solidFill>
          <a:ln w="9525">
            <a:solidFill>
              <a:srgbClr val="E2E7E9"/>
            </a:solidFill>
            <a:prstDash val="solid"/>
          </a:ln>
        </p:spPr>
        <p:txBody>
          <a:bodyPr/>
          <a:lstStyle/>
          <a:p>
            <a:endParaRPr lang="en-US"/>
          </a:p>
        </p:txBody>
      </p:sp>
      <p:sp>
        <p:nvSpPr>
          <p:cNvPr id="28" name="Text 25"/>
          <p:cNvSpPr/>
          <p:nvPr/>
        </p:nvSpPr>
        <p:spPr>
          <a:xfrm>
            <a:off x="8458200" y="3822192"/>
            <a:ext cx="2834640" cy="274320"/>
          </a:xfrm>
          <a:prstGeom prst="rect">
            <a:avLst/>
          </a:prstGeom>
          <a:noFill/>
          <a:ln/>
        </p:spPr>
        <p:txBody>
          <a:bodyPr wrap="square" lIns="0" tIns="0" rIns="0" bIns="0" rtlCol="0" anchor="ctr"/>
          <a:lstStyle/>
          <a:p>
            <a:pPr marL="0" indent="0">
              <a:buNone/>
            </a:pPr>
            <a:r>
              <a:rPr lang="en-US" sz="1300" b="1" dirty="0">
                <a:solidFill>
                  <a:srgbClr val="1F2A33"/>
                </a:solidFill>
                <a:latin typeface="Calibri" pitchFamily="34" charset="0"/>
                <a:ea typeface="Calibri" pitchFamily="34" charset="-122"/>
                <a:cs typeface="Calibri" pitchFamily="34" charset="-120"/>
              </a:rPr>
              <a:t>Storing it</a:t>
            </a:r>
            <a:endParaRPr lang="en-US" sz="1300" dirty="0"/>
          </a:p>
        </p:txBody>
      </p:sp>
      <p:sp>
        <p:nvSpPr>
          <p:cNvPr id="29" name="Text 26"/>
          <p:cNvSpPr/>
          <p:nvPr/>
        </p:nvSpPr>
        <p:spPr>
          <a:xfrm>
            <a:off x="8458200" y="4160520"/>
            <a:ext cx="2880360" cy="1417320"/>
          </a:xfrm>
          <a:prstGeom prst="rect">
            <a:avLst/>
          </a:prstGeom>
          <a:noFill/>
          <a:ln/>
        </p:spPr>
        <p:txBody>
          <a:bodyPr wrap="square" lIns="0" tIns="0" rIns="0" bIns="0" rtlCol="0" anchor="t"/>
          <a:lstStyle/>
          <a:p>
            <a:pPr marL="0" indent="0">
              <a:buNone/>
            </a:pPr>
            <a:r>
              <a:rPr lang="en-US" sz="1150" b="1" dirty="0">
                <a:solidFill>
                  <a:srgbClr val="0E7C86"/>
                </a:solidFill>
                <a:latin typeface="Calibri" pitchFamily="34" charset="0"/>
                <a:ea typeface="Calibri" pitchFamily="34" charset="-122"/>
                <a:cs typeface="Calibri" pitchFamily="34" charset="-120"/>
              </a:rPr>
              <a:t>1015</a:t>
            </a:r>
            <a:r>
              <a:rPr lang="en-US" sz="1150" dirty="0">
                <a:solidFill>
                  <a:srgbClr val="2E3F4A"/>
                </a:solidFill>
                <a:latin typeface="Calibri" pitchFamily="34" charset="0"/>
                <a:ea typeface="Calibri" pitchFamily="34" charset="-122"/>
                <a:cs typeface="Calibri" pitchFamily="34" charset="-120"/>
              </a:rPr>
              <a:t> bad run-ranges over </a:t>
            </a:r>
            <a:r>
              <a:rPr lang="en-US" sz="1150" b="1" dirty="0">
                <a:solidFill>
                  <a:srgbClr val="0E7C86"/>
                </a:solidFill>
                <a:latin typeface="Calibri" pitchFamily="34" charset="0"/>
                <a:ea typeface="Calibri" pitchFamily="34" charset="-122"/>
                <a:cs typeface="Calibri" pitchFamily="34" charset="-120"/>
              </a:rPr>
              <a:t>298</a:t>
            </a:r>
            <a:r>
              <a:rPr lang="en-US" sz="1150" dirty="0">
                <a:solidFill>
                  <a:srgbClr val="2E3F4A"/>
                </a:solidFill>
                <a:latin typeface="Calibri" pitchFamily="34" charset="0"/>
                <a:ea typeface="Calibri" pitchFamily="34" charset="-122"/>
                <a:cs typeface="Calibri" pitchFamily="34" charset="-120"/>
              </a:rPr>
              <a:t> wires. 47 % are a single run, but those carry only </a:t>
            </a:r>
            <a:r>
              <a:rPr lang="en-US" sz="1150" b="1" dirty="0">
                <a:solidFill>
                  <a:srgbClr val="0E7C86"/>
                </a:solidFill>
                <a:latin typeface="Calibri" pitchFamily="34" charset="0"/>
                <a:ea typeface="Calibri" pitchFamily="34" charset="-122"/>
                <a:cs typeface="Calibri" pitchFamily="34" charset="-120"/>
              </a:rPr>
              <a:t>2 %</a:t>
            </a:r>
            <a:r>
              <a:rPr lang="en-US" sz="1150" dirty="0">
                <a:solidFill>
                  <a:srgbClr val="2E3F4A"/>
                </a:solidFill>
                <a:latin typeface="Calibri" pitchFamily="34" charset="0"/>
                <a:ea typeface="Calibri" pitchFamily="34" charset="-122"/>
                <a:cs typeface="Calibri" pitchFamily="34" charset="-120"/>
              </a:rPr>
              <a:t> of all bad entries — the content sits in long stable stretches, so run-range tables fit.</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1F2A33"/>
        </a:solidFill>
        <a:effectLst/>
      </p:bgPr>
    </p:bg>
    <p:spTree>
      <p:nvGrpSpPr>
        <p:cNvPr id="1" name=""/>
        <p:cNvGrpSpPr/>
        <p:nvPr/>
      </p:nvGrpSpPr>
      <p:grpSpPr>
        <a:xfrm>
          <a:off x="0" y="0"/>
          <a:ext cx="0" cy="0"/>
          <a:chOff x="0" y="0"/>
          <a:chExt cx="0" cy="0"/>
        </a:xfrm>
      </p:grpSpPr>
      <p:sp>
        <p:nvSpPr>
          <p:cNvPr id="2" name="Text 0"/>
          <p:cNvSpPr/>
          <p:nvPr/>
        </p:nvSpPr>
        <p:spPr>
          <a:xfrm>
            <a:off x="640080" y="502920"/>
            <a:ext cx="10058400" cy="256032"/>
          </a:xfrm>
          <a:prstGeom prst="rect">
            <a:avLst/>
          </a:prstGeom>
          <a:noFill/>
          <a:ln/>
        </p:spPr>
        <p:txBody>
          <a:bodyPr wrap="square" rtlCol="0" anchor="ctr"/>
          <a:lstStyle/>
          <a:p>
            <a:pPr marL="0" indent="0">
              <a:buNone/>
            </a:pPr>
            <a:r>
              <a:rPr lang="en-US" sz="1200" b="1" kern="0" spc="200" dirty="0">
                <a:solidFill>
                  <a:srgbClr val="0E7C86"/>
                </a:solidFill>
                <a:latin typeface="Arial" pitchFamily="34" charset="0"/>
                <a:ea typeface="Arial" pitchFamily="34" charset="-122"/>
                <a:cs typeface="Arial" pitchFamily="34" charset="-120"/>
              </a:rPr>
              <a:t>THE REPOSITORY</a:t>
            </a:r>
            <a:endParaRPr lang="en-US" sz="1200" dirty="0"/>
          </a:p>
        </p:txBody>
      </p:sp>
      <p:sp>
        <p:nvSpPr>
          <p:cNvPr id="3" name="Text 1"/>
          <p:cNvSpPr/>
          <p:nvPr/>
        </p:nvSpPr>
        <p:spPr>
          <a:xfrm>
            <a:off x="640080" y="777240"/>
            <a:ext cx="10972800" cy="54864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Everything reproducible from one CSV</a:t>
            </a:r>
            <a:endParaRPr lang="en-US" sz="3000" dirty="0"/>
          </a:p>
        </p:txBody>
      </p:sp>
      <p:sp>
        <p:nvSpPr>
          <p:cNvPr id="4" name="Text 2"/>
          <p:cNvSpPr/>
          <p:nvPr/>
        </p:nvSpPr>
        <p:spPr>
          <a:xfrm>
            <a:off x="640080" y="1691640"/>
            <a:ext cx="3794760" cy="329184"/>
          </a:xfrm>
          <a:prstGeom prst="rect">
            <a:avLst/>
          </a:prstGeom>
          <a:noFill/>
          <a:ln/>
        </p:spPr>
        <p:txBody>
          <a:bodyPr wrap="square" lIns="0" tIns="0" rIns="0" bIns="0" rtlCol="0" anchor="ctr"/>
          <a:lstStyle/>
          <a:p>
            <a:pPr marL="0" indent="0">
              <a:buNone/>
            </a:pPr>
            <a:r>
              <a:rPr lang="en-US" sz="1200" b="1" dirty="0">
                <a:solidFill>
                  <a:srgbClr val="0E7C86"/>
                </a:solidFill>
                <a:latin typeface="Courier New" pitchFamily="34" charset="0"/>
                <a:ea typeface="Courier New" pitchFamily="34" charset="-122"/>
                <a:cs typeface="Courier New" pitchFamily="34" charset="-120"/>
              </a:rPr>
              <a:t>dump_alert_adc_csv.groovy</a:t>
            </a:r>
            <a:endParaRPr lang="en-US" sz="1200" dirty="0"/>
          </a:p>
        </p:txBody>
      </p:sp>
      <p:sp>
        <p:nvSpPr>
          <p:cNvPr id="5" name="Text 3"/>
          <p:cNvSpPr/>
          <p:nvPr/>
        </p:nvSpPr>
        <p:spPr>
          <a:xfrm>
            <a:off x="4526280" y="1691640"/>
            <a:ext cx="3108960" cy="329184"/>
          </a:xfrm>
          <a:prstGeom prst="rect">
            <a:avLst/>
          </a:prstGeom>
          <a:noFill/>
          <a:ln/>
        </p:spPr>
        <p:txBody>
          <a:bodyPr wrap="square" lIns="0" tIns="0" rIns="0" bIns="0" rtlCol="0" anchor="ctr"/>
          <a:lstStyle/>
          <a:p>
            <a:pPr marL="0" indent="0">
              <a:buNone/>
            </a:pPr>
            <a:r>
              <a:rPr lang="en-US" sz="1200" dirty="0">
                <a:solidFill>
                  <a:srgbClr val="B9C6CC"/>
                </a:solidFill>
                <a:latin typeface="Calibri" pitchFamily="34" charset="0"/>
                <a:ea typeface="Calibri" pitchFamily="34" charset="-122"/>
                <a:cs typeface="Calibri" pitchFamily="34" charset="-120"/>
              </a:rPr>
              <a:t>timeline HIPO → per-wire CSV  (on ifarm)</a:t>
            </a:r>
            <a:endParaRPr lang="en-US" sz="1200" dirty="0"/>
          </a:p>
        </p:txBody>
      </p:sp>
      <p:sp>
        <p:nvSpPr>
          <p:cNvPr id="6" name="Text 4"/>
          <p:cNvSpPr/>
          <p:nvPr/>
        </p:nvSpPr>
        <p:spPr>
          <a:xfrm>
            <a:off x="640080" y="2093976"/>
            <a:ext cx="3794760" cy="329184"/>
          </a:xfrm>
          <a:prstGeom prst="rect">
            <a:avLst/>
          </a:prstGeom>
          <a:noFill/>
          <a:ln/>
        </p:spPr>
        <p:txBody>
          <a:bodyPr wrap="square" lIns="0" tIns="0" rIns="0" bIns="0" rtlCol="0" anchor="ctr"/>
          <a:lstStyle/>
          <a:p>
            <a:pPr marL="0" indent="0">
              <a:buNone/>
            </a:pPr>
            <a:r>
              <a:rPr lang="en-US" sz="1200" b="1" dirty="0">
                <a:solidFill>
                  <a:srgbClr val="0E7C86"/>
                </a:solidFill>
                <a:latin typeface="Courier New" pitchFamily="34" charset="0"/>
                <a:ea typeface="Courier New" pitchFamily="34" charset="-122"/>
                <a:cs typeface="Courier New" pitchFamily="34" charset="-120"/>
              </a:rPr>
              <a:t>analyze_alert_adc.py</a:t>
            </a:r>
            <a:endParaRPr lang="en-US" sz="1200" dirty="0"/>
          </a:p>
        </p:txBody>
      </p:sp>
      <p:sp>
        <p:nvSpPr>
          <p:cNvPr id="7" name="Text 5"/>
          <p:cNvSpPr/>
          <p:nvPr/>
        </p:nvSpPr>
        <p:spPr>
          <a:xfrm>
            <a:off x="4526280" y="2093976"/>
            <a:ext cx="3108960" cy="329184"/>
          </a:xfrm>
          <a:prstGeom prst="rect">
            <a:avLst/>
          </a:prstGeom>
          <a:noFill/>
          <a:ln/>
        </p:spPr>
        <p:txBody>
          <a:bodyPr wrap="square" lIns="0" tIns="0" rIns="0" bIns="0" rtlCol="0" anchor="ctr"/>
          <a:lstStyle/>
          <a:p>
            <a:pPr marL="0" indent="0">
              <a:buNone/>
            </a:pPr>
            <a:r>
              <a:rPr lang="en-US" sz="1200" dirty="0">
                <a:solidFill>
                  <a:srgbClr val="B9C6CC"/>
                </a:solidFill>
                <a:latin typeface="Calibri" pitchFamily="34" charset="0"/>
                <a:ea typeface="Calibri" pitchFamily="34" charset="-122"/>
                <a:cs typeface="Calibri" pitchFamily="34" charset="-120"/>
              </a:rPr>
              <a:t>the analysis: maps, tables, summary, run ranges</a:t>
            </a:r>
            <a:endParaRPr lang="en-US" sz="1200" dirty="0"/>
          </a:p>
        </p:txBody>
      </p:sp>
      <p:sp>
        <p:nvSpPr>
          <p:cNvPr id="8" name="Text 6"/>
          <p:cNvSpPr/>
          <p:nvPr/>
        </p:nvSpPr>
        <p:spPr>
          <a:xfrm>
            <a:off x="640080" y="2496312"/>
            <a:ext cx="3794760" cy="329184"/>
          </a:xfrm>
          <a:prstGeom prst="rect">
            <a:avLst/>
          </a:prstGeom>
          <a:noFill/>
          <a:ln/>
        </p:spPr>
        <p:txBody>
          <a:bodyPr wrap="square" lIns="0" tIns="0" rIns="0" bIns="0" rtlCol="0" anchor="ctr"/>
          <a:lstStyle/>
          <a:p>
            <a:pPr marL="0" indent="0">
              <a:buNone/>
            </a:pPr>
            <a:r>
              <a:rPr lang="en-US" sz="1200" b="1" dirty="0">
                <a:solidFill>
                  <a:srgbClr val="0E7C86"/>
                </a:solidFill>
                <a:latin typeface="Courier New" pitchFamily="34" charset="0"/>
                <a:ea typeface="Courier New" pitchFamily="34" charset="-122"/>
                <a:cs typeface="Courier New" pitchFamily="34" charset="-120"/>
              </a:rPr>
              <a:t>analyze_alert_adc.ipynb</a:t>
            </a:r>
            <a:endParaRPr lang="en-US" sz="1200" dirty="0"/>
          </a:p>
        </p:txBody>
      </p:sp>
      <p:sp>
        <p:nvSpPr>
          <p:cNvPr id="9" name="Text 7"/>
          <p:cNvSpPr/>
          <p:nvPr/>
        </p:nvSpPr>
        <p:spPr>
          <a:xfrm>
            <a:off x="4526280" y="2496312"/>
            <a:ext cx="3108960" cy="329184"/>
          </a:xfrm>
          <a:prstGeom prst="rect">
            <a:avLst/>
          </a:prstGeom>
          <a:noFill/>
          <a:ln/>
        </p:spPr>
        <p:txBody>
          <a:bodyPr wrap="square" lIns="0" tIns="0" rIns="0" bIns="0" rtlCol="0" anchor="ctr"/>
          <a:lstStyle/>
          <a:p>
            <a:pPr marL="0" indent="0">
              <a:buNone/>
            </a:pPr>
            <a:r>
              <a:rPr lang="en-US" sz="1200" dirty="0">
                <a:solidFill>
                  <a:srgbClr val="B9C6CC"/>
                </a:solidFill>
                <a:latin typeface="Calibri" pitchFamily="34" charset="0"/>
                <a:ea typeface="Calibri" pitchFamily="34" charset="-122"/>
                <a:cs typeface="Calibri" pitchFamily="34" charset="-120"/>
              </a:rPr>
              <a:t>same thing as a notebook — imports the module</a:t>
            </a:r>
            <a:endParaRPr lang="en-US" sz="1200" dirty="0"/>
          </a:p>
        </p:txBody>
      </p:sp>
      <p:sp>
        <p:nvSpPr>
          <p:cNvPr id="10" name="Text 8"/>
          <p:cNvSpPr/>
          <p:nvPr/>
        </p:nvSpPr>
        <p:spPr>
          <a:xfrm>
            <a:off x="640080" y="2898648"/>
            <a:ext cx="3794760" cy="329184"/>
          </a:xfrm>
          <a:prstGeom prst="rect">
            <a:avLst/>
          </a:prstGeom>
          <a:noFill/>
          <a:ln/>
        </p:spPr>
        <p:txBody>
          <a:bodyPr wrap="square" lIns="0" tIns="0" rIns="0" bIns="0" rtlCol="0" anchor="ctr"/>
          <a:lstStyle/>
          <a:p>
            <a:pPr marL="0" indent="0">
              <a:buNone/>
            </a:pPr>
            <a:r>
              <a:rPr lang="en-US" sz="1200" b="1" dirty="0">
                <a:solidFill>
                  <a:srgbClr val="0E7C86"/>
                </a:solidFill>
                <a:latin typeface="Courier New" pitchFamily="34" charset="0"/>
                <a:ea typeface="Courier New" pitchFamily="34" charset="-122"/>
                <a:cs typeface="Courier New" pitchFamily="34" charset="-120"/>
              </a:rPr>
              <a:t>ALGORITHM.md</a:t>
            </a:r>
            <a:endParaRPr lang="en-US" sz="1200" dirty="0"/>
          </a:p>
        </p:txBody>
      </p:sp>
      <p:sp>
        <p:nvSpPr>
          <p:cNvPr id="11" name="Text 9"/>
          <p:cNvSpPr/>
          <p:nvPr/>
        </p:nvSpPr>
        <p:spPr>
          <a:xfrm>
            <a:off x="4526280" y="2898648"/>
            <a:ext cx="3108960" cy="329184"/>
          </a:xfrm>
          <a:prstGeom prst="rect">
            <a:avLst/>
          </a:prstGeom>
          <a:noFill/>
          <a:ln/>
        </p:spPr>
        <p:txBody>
          <a:bodyPr wrap="square" lIns="0" tIns="0" rIns="0" bIns="0" rtlCol="0" anchor="ctr"/>
          <a:lstStyle/>
          <a:p>
            <a:pPr marL="0" indent="0">
              <a:buNone/>
            </a:pPr>
            <a:r>
              <a:rPr lang="en-US" sz="1200" dirty="0">
                <a:solidFill>
                  <a:srgbClr val="B9C6CC"/>
                </a:solidFill>
                <a:latin typeface="Calibri" pitchFamily="34" charset="0"/>
                <a:ea typeface="Calibri" pitchFamily="34" charset="-122"/>
                <a:cs typeface="Calibri" pitchFamily="34" charset="-120"/>
              </a:rPr>
              <a:t>the method, with worked numbers</a:t>
            </a:r>
            <a:endParaRPr lang="en-US" sz="1200" dirty="0"/>
          </a:p>
        </p:txBody>
      </p:sp>
      <p:sp>
        <p:nvSpPr>
          <p:cNvPr id="12" name="Text 10"/>
          <p:cNvSpPr/>
          <p:nvPr/>
        </p:nvSpPr>
        <p:spPr>
          <a:xfrm>
            <a:off x="640080" y="3300984"/>
            <a:ext cx="3794760" cy="329184"/>
          </a:xfrm>
          <a:prstGeom prst="rect">
            <a:avLst/>
          </a:prstGeom>
          <a:noFill/>
          <a:ln/>
        </p:spPr>
        <p:txBody>
          <a:bodyPr wrap="square" lIns="0" tIns="0" rIns="0" bIns="0" rtlCol="0" anchor="ctr"/>
          <a:lstStyle/>
          <a:p>
            <a:pPr marL="0" indent="0">
              <a:buNone/>
            </a:pPr>
            <a:r>
              <a:rPr lang="en-US" sz="1200" b="1" dirty="0">
                <a:solidFill>
                  <a:srgbClr val="0E7C86"/>
                </a:solidFill>
                <a:latin typeface="Courier New" pitchFamily="34" charset="0"/>
                <a:ea typeface="Courier New" pitchFamily="34" charset="-122"/>
                <a:cs typeface="Courier New" pitchFamily="34" charset="-120"/>
              </a:rPr>
              <a:t>README.md</a:t>
            </a:r>
            <a:endParaRPr lang="en-US" sz="1200" dirty="0"/>
          </a:p>
        </p:txBody>
      </p:sp>
      <p:sp>
        <p:nvSpPr>
          <p:cNvPr id="13" name="Text 11"/>
          <p:cNvSpPr/>
          <p:nvPr/>
        </p:nvSpPr>
        <p:spPr>
          <a:xfrm>
            <a:off x="4526280" y="3300984"/>
            <a:ext cx="3108960" cy="329184"/>
          </a:xfrm>
          <a:prstGeom prst="rect">
            <a:avLst/>
          </a:prstGeom>
          <a:noFill/>
          <a:ln/>
        </p:spPr>
        <p:txBody>
          <a:bodyPr wrap="square" lIns="0" tIns="0" rIns="0" bIns="0" rtlCol="0" anchor="ctr"/>
          <a:lstStyle/>
          <a:p>
            <a:pPr marL="0" indent="0">
              <a:buNone/>
            </a:pPr>
            <a:r>
              <a:rPr lang="en-US" sz="1200" dirty="0">
                <a:solidFill>
                  <a:srgbClr val="B9C6CC"/>
                </a:solidFill>
                <a:latin typeface="Calibri" pitchFamily="34" charset="0"/>
                <a:ea typeface="Calibri" pitchFamily="34" charset="-122"/>
                <a:cs typeface="Calibri" pitchFamily="34" charset="-120"/>
              </a:rPr>
              <a:t>install and run</a:t>
            </a:r>
            <a:endParaRPr lang="en-US" sz="1200" dirty="0"/>
          </a:p>
        </p:txBody>
      </p:sp>
      <p:sp>
        <p:nvSpPr>
          <p:cNvPr id="14" name="Text 12"/>
          <p:cNvSpPr/>
          <p:nvPr/>
        </p:nvSpPr>
        <p:spPr>
          <a:xfrm>
            <a:off x="640080" y="3703320"/>
            <a:ext cx="3794760" cy="329184"/>
          </a:xfrm>
          <a:prstGeom prst="rect">
            <a:avLst/>
          </a:prstGeom>
          <a:noFill/>
          <a:ln/>
        </p:spPr>
        <p:txBody>
          <a:bodyPr wrap="square" lIns="0" tIns="0" rIns="0" bIns="0" rtlCol="0" anchor="ctr"/>
          <a:lstStyle/>
          <a:p>
            <a:pPr marL="0" indent="0">
              <a:buNone/>
            </a:pPr>
            <a:r>
              <a:rPr lang="en-US" sz="1200" b="1" dirty="0">
                <a:solidFill>
                  <a:srgbClr val="0E7C86"/>
                </a:solidFill>
                <a:latin typeface="Courier New" pitchFamily="34" charset="0"/>
                <a:ea typeface="Courier New" pitchFamily="34" charset="-122"/>
                <a:cs typeface="Courier New" pitchFamily="34" charset="-120"/>
              </a:rPr>
              <a:t>all.csv</a:t>
            </a:r>
            <a:endParaRPr lang="en-US" sz="1200" dirty="0"/>
          </a:p>
        </p:txBody>
      </p:sp>
      <p:sp>
        <p:nvSpPr>
          <p:cNvPr id="15" name="Text 13"/>
          <p:cNvSpPr/>
          <p:nvPr/>
        </p:nvSpPr>
        <p:spPr>
          <a:xfrm>
            <a:off x="4526280" y="3703320"/>
            <a:ext cx="3108960" cy="329184"/>
          </a:xfrm>
          <a:prstGeom prst="rect">
            <a:avLst/>
          </a:prstGeom>
          <a:noFill/>
          <a:ln/>
        </p:spPr>
        <p:txBody>
          <a:bodyPr wrap="square" lIns="0" tIns="0" rIns="0" bIns="0" rtlCol="0" anchor="ctr"/>
          <a:lstStyle/>
          <a:p>
            <a:pPr marL="0" indent="0">
              <a:buNone/>
            </a:pPr>
            <a:r>
              <a:rPr lang="en-US" sz="1200" dirty="0">
                <a:solidFill>
                  <a:srgbClr val="B9C6CC"/>
                </a:solidFill>
                <a:latin typeface="Calibri" pitchFamily="34" charset="0"/>
                <a:ea typeface="Calibri" pitchFamily="34" charset="-122"/>
                <a:cs typeface="Calibri" pitchFamily="34" charset="-120"/>
              </a:rPr>
              <a:t>576 wires × 1112 runs</a:t>
            </a:r>
            <a:endParaRPr lang="en-US" sz="1200" dirty="0"/>
          </a:p>
        </p:txBody>
      </p:sp>
      <p:sp>
        <p:nvSpPr>
          <p:cNvPr id="16" name="Text 14"/>
          <p:cNvSpPr/>
          <p:nvPr/>
        </p:nvSpPr>
        <p:spPr>
          <a:xfrm>
            <a:off x="640080" y="4105656"/>
            <a:ext cx="3794760" cy="329184"/>
          </a:xfrm>
          <a:prstGeom prst="rect">
            <a:avLst/>
          </a:prstGeom>
          <a:noFill/>
          <a:ln/>
        </p:spPr>
        <p:txBody>
          <a:bodyPr wrap="square" lIns="0" tIns="0" rIns="0" bIns="0" rtlCol="0" anchor="ctr"/>
          <a:lstStyle/>
          <a:p>
            <a:pPr marL="0" indent="0">
              <a:buNone/>
            </a:pPr>
            <a:r>
              <a:rPr lang="en-US" sz="1200" b="1" dirty="0">
                <a:solidFill>
                  <a:srgbClr val="0E7C86"/>
                </a:solidFill>
                <a:latin typeface="Courier New" pitchFamily="34" charset="0"/>
                <a:ea typeface="Courier New" pitchFamily="34" charset="-122"/>
                <a:cs typeface="Courier New" pitchFamily="34" charset="-120"/>
              </a:rPr>
              <a:t>examples/</a:t>
            </a:r>
            <a:endParaRPr lang="en-US" sz="1200" dirty="0"/>
          </a:p>
        </p:txBody>
      </p:sp>
      <p:sp>
        <p:nvSpPr>
          <p:cNvPr id="17" name="Text 15"/>
          <p:cNvSpPr/>
          <p:nvPr/>
        </p:nvSpPr>
        <p:spPr>
          <a:xfrm>
            <a:off x="4526280" y="4105656"/>
            <a:ext cx="3108960" cy="329184"/>
          </a:xfrm>
          <a:prstGeom prst="rect">
            <a:avLst/>
          </a:prstGeom>
          <a:noFill/>
          <a:ln/>
        </p:spPr>
        <p:txBody>
          <a:bodyPr wrap="square" lIns="0" tIns="0" rIns="0" bIns="0" rtlCol="0" anchor="ctr"/>
          <a:lstStyle/>
          <a:p>
            <a:pPr marL="0" indent="0">
              <a:buNone/>
            </a:pPr>
            <a:r>
              <a:rPr lang="en-US" sz="1200" dirty="0">
                <a:solidFill>
                  <a:srgbClr val="B9C6CC"/>
                </a:solidFill>
                <a:latin typeface="Calibri" pitchFamily="34" charset="0"/>
                <a:ea typeface="Calibri" pitchFamily="34" charset="-122"/>
                <a:cs typeface="Calibri" pitchFamily="34" charset="-120"/>
              </a:rPr>
              <a:t>per-run reports for five runs</a:t>
            </a:r>
            <a:endParaRPr lang="en-US" sz="1200" dirty="0"/>
          </a:p>
        </p:txBody>
      </p:sp>
      <p:sp>
        <p:nvSpPr>
          <p:cNvPr id="18" name="Shape 16"/>
          <p:cNvSpPr/>
          <p:nvPr/>
        </p:nvSpPr>
        <p:spPr>
          <a:xfrm>
            <a:off x="7772400" y="1691640"/>
            <a:ext cx="3749040" cy="3200400"/>
          </a:xfrm>
          <a:prstGeom prst="roundRect">
            <a:avLst>
              <a:gd name="adj" fmla="val 1714"/>
            </a:avLst>
          </a:prstGeom>
          <a:solidFill>
            <a:srgbClr val="2E3F4A"/>
          </a:solidFill>
          <a:ln w="9525">
            <a:solidFill>
              <a:srgbClr val="E2E7E9"/>
            </a:solidFill>
            <a:prstDash val="solid"/>
          </a:ln>
        </p:spPr>
        <p:txBody>
          <a:bodyPr/>
          <a:lstStyle/>
          <a:p>
            <a:endParaRPr lang="en-US"/>
          </a:p>
        </p:txBody>
      </p:sp>
      <p:sp>
        <p:nvSpPr>
          <p:cNvPr id="19" name="Text 17"/>
          <p:cNvSpPr/>
          <p:nvPr/>
        </p:nvSpPr>
        <p:spPr>
          <a:xfrm>
            <a:off x="8028432" y="1828800"/>
            <a:ext cx="320040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Typical use</a:t>
            </a:r>
            <a:endParaRPr lang="en-US" sz="1300" dirty="0"/>
          </a:p>
        </p:txBody>
      </p:sp>
      <p:sp>
        <p:nvSpPr>
          <p:cNvPr id="20" name="Text 18"/>
          <p:cNvSpPr/>
          <p:nvPr/>
        </p:nvSpPr>
        <p:spPr>
          <a:xfrm>
            <a:off x="8028432" y="2176272"/>
            <a:ext cx="3291840" cy="2606040"/>
          </a:xfrm>
          <a:prstGeom prst="rect">
            <a:avLst/>
          </a:prstGeom>
          <a:noFill/>
          <a:ln/>
        </p:spPr>
        <p:txBody>
          <a:bodyPr wrap="square" lIns="0" tIns="0" rIns="0" bIns="0" rtlCol="0" anchor="t"/>
          <a:lstStyle/>
          <a:p>
            <a:pPr marL="0" indent="0">
              <a:lnSpc>
                <a:spcPts val="1300"/>
              </a:lnSpc>
              <a:buNone/>
            </a:pPr>
            <a:r>
              <a:rPr lang="en-US" sz="950" dirty="0">
                <a:solidFill>
                  <a:srgbClr val="7E9099"/>
                </a:solidFill>
                <a:latin typeface="Courier New" pitchFamily="34" charset="0"/>
                <a:ea typeface="Courier New" pitchFamily="34" charset="-122"/>
                <a:cs typeface="Courier New" pitchFamily="34" charset="-120"/>
              </a:rPr>
              <a:t># bad channels in one run</a:t>
            </a:r>
            <a:endParaRPr lang="en-US" sz="950" dirty="0"/>
          </a:p>
          <a:p>
            <a:pPr marL="0" indent="0">
              <a:lnSpc>
                <a:spcPts val="1300"/>
              </a:lnSpc>
              <a:buNone/>
            </a:pPr>
            <a:r>
              <a:rPr lang="en-US" sz="950" dirty="0">
                <a:solidFill>
                  <a:srgbClr val="FFFFFF"/>
                </a:solidFill>
                <a:latin typeface="Courier New" pitchFamily="34" charset="0"/>
                <a:ea typeface="Courier New" pitchFamily="34" charset="-122"/>
                <a:cs typeface="Courier New" pitchFamily="34" charset="-120"/>
              </a:rPr>
              <a:t>python analyze_alert_adc.py \</a:t>
            </a:r>
            <a:endParaRPr lang="en-US" sz="950" dirty="0"/>
          </a:p>
          <a:p>
            <a:pPr marL="0" indent="0">
              <a:lnSpc>
                <a:spcPts val="1300"/>
              </a:lnSpc>
              <a:buNone/>
            </a:pPr>
            <a:r>
              <a:rPr lang="en-US" sz="950" dirty="0">
                <a:solidFill>
                  <a:srgbClr val="FFFFFF"/>
                </a:solidFill>
                <a:latin typeface="Courier New" pitchFamily="34" charset="0"/>
                <a:ea typeface="Courier New" pitchFamily="34" charset="-122"/>
                <a:cs typeface="Courier New" pitchFamily="34" charset="-120"/>
              </a:rPr>
              <a:t>  all.csv --run 22603</a:t>
            </a:r>
            <a:endParaRPr lang="en-US" sz="950" dirty="0"/>
          </a:p>
          <a:p>
            <a:pPr marL="0" indent="0">
              <a:lnSpc>
                <a:spcPts val="1300"/>
              </a:lnSpc>
              <a:buNone/>
            </a:pPr>
            <a:r>
              <a:rPr lang="en-US" sz="950" dirty="0">
                <a:solidFill>
                  <a:srgbClr val="000000"/>
                </a:solidFill>
                <a:latin typeface="Courier New" pitchFamily="34" charset="0"/>
                <a:ea typeface="Courier New" pitchFamily="34" charset="-122"/>
                <a:cs typeface="Courier New" pitchFamily="34" charset="-120"/>
              </a:rPr>
              <a:t> </a:t>
            </a:r>
            <a:endParaRPr lang="en-US" sz="950" dirty="0"/>
          </a:p>
          <a:p>
            <a:pPr marL="0" indent="0">
              <a:lnSpc>
                <a:spcPts val="1300"/>
              </a:lnSpc>
              <a:buNone/>
            </a:pPr>
            <a:r>
              <a:rPr lang="en-US" sz="950" dirty="0">
                <a:solidFill>
                  <a:srgbClr val="7E9099"/>
                </a:solidFill>
                <a:latin typeface="Courier New" pitchFamily="34" charset="0"/>
                <a:ea typeface="Courier New" pitchFamily="34" charset="-122"/>
                <a:cs typeface="Courier New" pitchFamily="34" charset="-120"/>
              </a:rPr>
              <a:t># per-run counts, campaign</a:t>
            </a:r>
            <a:endParaRPr lang="en-US" sz="950" dirty="0"/>
          </a:p>
          <a:p>
            <a:pPr marL="0" indent="0">
              <a:lnSpc>
                <a:spcPts val="1300"/>
              </a:lnSpc>
              <a:buNone/>
            </a:pPr>
            <a:r>
              <a:rPr lang="en-US" sz="950" dirty="0">
                <a:solidFill>
                  <a:srgbClr val="FFFFFF"/>
                </a:solidFill>
                <a:latin typeface="Courier New" pitchFamily="34" charset="0"/>
                <a:ea typeface="Courier New" pitchFamily="34" charset="-122"/>
                <a:cs typeface="Courier New" pitchFamily="34" charset="-120"/>
              </a:rPr>
              <a:t>python analyze_alert_adc.py \</a:t>
            </a:r>
            <a:endParaRPr lang="en-US" sz="950" dirty="0"/>
          </a:p>
          <a:p>
            <a:pPr marL="0" indent="0">
              <a:lnSpc>
                <a:spcPts val="1300"/>
              </a:lnSpc>
              <a:buNone/>
            </a:pPr>
            <a:r>
              <a:rPr lang="en-US" sz="950" dirty="0">
                <a:solidFill>
                  <a:srgbClr val="FFFFFF"/>
                </a:solidFill>
                <a:latin typeface="Courier New" pitchFamily="34" charset="0"/>
                <a:ea typeface="Courier New" pitchFamily="34" charset="-122"/>
                <a:cs typeface="Courier New" pitchFamily="34" charset="-120"/>
              </a:rPr>
              <a:t>  all.csv --summary bad.png</a:t>
            </a:r>
            <a:endParaRPr lang="en-US" sz="950" dirty="0"/>
          </a:p>
          <a:p>
            <a:pPr marL="0" indent="0">
              <a:lnSpc>
                <a:spcPts val="1300"/>
              </a:lnSpc>
              <a:buNone/>
            </a:pPr>
            <a:r>
              <a:rPr lang="en-US" sz="950" dirty="0">
                <a:solidFill>
                  <a:srgbClr val="000000"/>
                </a:solidFill>
                <a:latin typeface="Courier New" pitchFamily="34" charset="0"/>
                <a:ea typeface="Courier New" pitchFamily="34" charset="-122"/>
                <a:cs typeface="Courier New" pitchFamily="34" charset="-120"/>
              </a:rPr>
              <a:t> </a:t>
            </a:r>
            <a:endParaRPr lang="en-US" sz="950" dirty="0"/>
          </a:p>
          <a:p>
            <a:pPr marL="0" indent="0">
              <a:lnSpc>
                <a:spcPts val="1300"/>
              </a:lnSpc>
              <a:buNone/>
            </a:pPr>
            <a:r>
              <a:rPr lang="en-US" sz="950" dirty="0">
                <a:solidFill>
                  <a:srgbClr val="7E9099"/>
                </a:solidFill>
                <a:latin typeface="Courier New" pitchFamily="34" charset="0"/>
                <a:ea typeface="Courier New" pitchFamily="34" charset="-122"/>
                <a:cs typeface="Courier New" pitchFamily="34" charset="-120"/>
              </a:rPr>
              <a:t># run ranges for the database</a:t>
            </a:r>
            <a:endParaRPr lang="en-US" sz="950" dirty="0"/>
          </a:p>
          <a:p>
            <a:pPr marL="0" indent="0">
              <a:lnSpc>
                <a:spcPts val="1300"/>
              </a:lnSpc>
              <a:buNone/>
            </a:pPr>
            <a:r>
              <a:rPr lang="en-US" sz="950" dirty="0">
                <a:solidFill>
                  <a:srgbClr val="FFFFFF"/>
                </a:solidFill>
                <a:latin typeface="Courier New" pitchFamily="34" charset="0"/>
                <a:ea typeface="Courier New" pitchFamily="34" charset="-122"/>
                <a:cs typeface="Courier New" pitchFamily="34" charset="-120"/>
              </a:rPr>
              <a:t>python analyze_alert_adc.py \</a:t>
            </a:r>
            <a:endParaRPr lang="en-US" sz="950" dirty="0"/>
          </a:p>
          <a:p>
            <a:pPr marL="0" indent="0">
              <a:lnSpc>
                <a:spcPts val="1300"/>
              </a:lnSpc>
              <a:buNone/>
            </a:pPr>
            <a:r>
              <a:rPr lang="en-US" sz="950" dirty="0">
                <a:solidFill>
                  <a:srgbClr val="FFFFFF"/>
                </a:solidFill>
                <a:latin typeface="Courier New" pitchFamily="34" charset="0"/>
                <a:ea typeface="Courier New" pitchFamily="34" charset="-122"/>
                <a:cs typeface="Courier New" pitchFamily="34" charset="-120"/>
              </a:rPr>
              <a:t>  all.csv --segments seg.csv</a:t>
            </a:r>
            <a:endParaRPr lang="en-US" sz="950" dirty="0"/>
          </a:p>
        </p:txBody>
      </p:sp>
      <p:sp>
        <p:nvSpPr>
          <p:cNvPr id="21" name="Text 19"/>
          <p:cNvSpPr/>
          <p:nvPr/>
        </p:nvSpPr>
        <p:spPr>
          <a:xfrm>
            <a:off x="640080" y="5166360"/>
            <a:ext cx="10881360" cy="777240"/>
          </a:xfrm>
          <a:prstGeom prst="rect">
            <a:avLst/>
          </a:prstGeom>
          <a:noFill/>
          <a:ln/>
        </p:spPr>
        <p:txBody>
          <a:bodyPr wrap="square" rtlCol="0" anchor="ctr"/>
          <a:lstStyle/>
          <a:p>
            <a:pPr marL="0" indent="0">
              <a:buNone/>
            </a:pPr>
            <a:r>
              <a:rPr lang="en-US" sz="1300" b="1" dirty="0">
                <a:solidFill>
                  <a:srgbClr val="0E7C86"/>
                </a:solidFill>
                <a:latin typeface="Calibri" pitchFamily="34" charset="0"/>
                <a:ea typeface="Calibri" pitchFamily="34" charset="-122"/>
                <a:cs typeface="Calibri" pitchFamily="34" charset="-120"/>
              </a:rPr>
              <a:t>Open questions  </a:t>
            </a:r>
            <a:r>
              <a:rPr lang="en-US" sz="1300" dirty="0">
                <a:solidFill>
                  <a:srgbClr val="B9C6CC"/>
                </a:solidFill>
                <a:latin typeface="Calibri" pitchFamily="34" charset="0"/>
                <a:ea typeface="Calibri" pitchFamily="34" charset="-122"/>
                <a:cs typeface="Calibri" pitchFamily="34" charset="-120"/>
              </a:rPr>
              <a:t>·  thresholds are defaults, not tuned against the logbook  ·  how to store single-run exceptions  ·  whether to fold in occupancy and adcMax alongside the integral</a:t>
            </a:r>
            <a:endParaRPr lang="en-US" sz="1300" dirty="0"/>
          </a:p>
        </p:txBody>
      </p:sp>
      <p:sp>
        <p:nvSpPr>
          <p:cNvPr id="22" name="Text 20"/>
          <p:cNvSpPr/>
          <p:nvPr/>
        </p:nvSpPr>
        <p:spPr>
          <a:xfrm>
            <a:off x="640080" y="6080760"/>
            <a:ext cx="7315200" cy="320040"/>
          </a:xfrm>
          <a:prstGeom prst="rect">
            <a:avLst/>
          </a:prstGeom>
          <a:noFill/>
          <a:ln/>
        </p:spPr>
        <p:txBody>
          <a:bodyPr wrap="square" rtlCol="0" anchor="ctr"/>
          <a:lstStyle/>
          <a:p>
            <a:pPr marL="0" indent="0">
              <a:buNone/>
            </a:pPr>
            <a:r>
              <a:rPr lang="en-US" sz="1200" dirty="0">
                <a:solidFill>
                  <a:srgbClr val="0E7C86"/>
                </a:solidFill>
                <a:latin typeface="Courier New" pitchFamily="34" charset="0"/>
                <a:ea typeface="Courier New" pitchFamily="34" charset="-122"/>
                <a:cs typeface="Courier New" pitchFamily="34" charset="-120"/>
              </a:rPr>
              <a:t>github.com/KongTu/deadChannel-ALERT-CLAS12</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1138</Words>
  <Application>Microsoft Macintosh PowerPoint</Application>
  <PresentationFormat>Widescreen</PresentationFormat>
  <Paragraphs>169</Paragraphs>
  <Slides>8</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AHDC dead / bad wire finding</dc:title>
  <dc:subject>PptxGenJS Presentation</dc:subject>
  <dc:creator>Kong Tu</dc:creator>
  <cp:lastModifiedBy>Kong Tu</cp:lastModifiedBy>
  <cp:revision>2</cp:revision>
  <dcterms:created xsi:type="dcterms:W3CDTF">2026-08-11T01:05:22Z</dcterms:created>
  <dcterms:modified xsi:type="dcterms:W3CDTF">2026-08-11T01:13:56Z</dcterms:modified>
</cp:coreProperties>
</file>